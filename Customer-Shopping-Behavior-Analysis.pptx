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Montserrat Bold" charset="1" panose="00000800000000000000"/>
      <p:regular r:id="rId19"/>
    </p:embeddedFont>
    <p:embeddedFont>
      <p:font typeface="DM Sans" charset="1" panose="000000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3.png" Type="http://schemas.openxmlformats.org/officeDocument/2006/relationships/image"/><Relationship Id="rId8" Target="../media/image1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Relationship Id="rId6" Target="../media/image19.svg" Type="http://schemas.openxmlformats.org/officeDocument/2006/relationships/image"/><Relationship Id="rId7" Target="../media/image20.png" Type="http://schemas.openxmlformats.org/officeDocument/2006/relationships/image"/><Relationship Id="rId8" Target="../media/image21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png" Type="http://schemas.openxmlformats.org/officeDocument/2006/relationships/image"/><Relationship Id="rId4" Target="../media/image24.png" Type="http://schemas.openxmlformats.org/officeDocument/2006/relationships/image"/><Relationship Id="rId5" Target="../media/image25.png" Type="http://schemas.openxmlformats.org/officeDocument/2006/relationships/image"/><Relationship Id="rId6" Target="../media/image2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.png" Type="http://schemas.openxmlformats.org/officeDocument/2006/relationships/image"/><Relationship Id="rId11" Target="../media/image7.svg" Type="http://schemas.openxmlformats.org/officeDocument/2006/relationships/image"/><Relationship Id="rId2" Target="../media/image27.png" Type="http://schemas.openxmlformats.org/officeDocument/2006/relationships/image"/><Relationship Id="rId3" Target="../media/image28.svg" Type="http://schemas.openxmlformats.org/officeDocument/2006/relationships/image"/><Relationship Id="rId4" Target="../media/image29.png" Type="http://schemas.openxmlformats.org/officeDocument/2006/relationships/image"/><Relationship Id="rId5" Target="../media/image30.png" Type="http://schemas.openxmlformats.org/officeDocument/2006/relationships/image"/><Relationship Id="rId6" Target="../media/image31.png" Type="http://schemas.openxmlformats.org/officeDocument/2006/relationships/image"/><Relationship Id="rId7" Target="../media/image32.png" Type="http://schemas.openxmlformats.org/officeDocument/2006/relationships/image"/><Relationship Id="rId8" Target="../media/image20.png" Type="http://schemas.openxmlformats.org/officeDocument/2006/relationships/image"/><Relationship Id="rId9" Target="../media/image21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png" Type="http://schemas.openxmlformats.org/officeDocument/2006/relationships/image"/><Relationship Id="rId3" Target="../media/image34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35.png" Type="http://schemas.openxmlformats.org/officeDocument/2006/relationships/image"/><Relationship Id="rId7" Target="../media/image36.png" Type="http://schemas.openxmlformats.org/officeDocument/2006/relationships/image"/><Relationship Id="rId8" Target="../media/image3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sv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Relationship Id="rId6" Target="../media/image38.png" Type="http://schemas.openxmlformats.org/officeDocument/2006/relationships/image"/><Relationship Id="rId7" Target="../media/image39.png" Type="http://schemas.openxmlformats.org/officeDocument/2006/relationships/image"/><Relationship Id="rId8" Target="../media/image4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png" Type="http://schemas.openxmlformats.org/officeDocument/2006/relationships/image"/><Relationship Id="rId3" Target="../media/image42.png" Type="http://schemas.openxmlformats.org/officeDocument/2006/relationships/image"/><Relationship Id="rId4" Target="../media/image43.png" Type="http://schemas.openxmlformats.org/officeDocument/2006/relationships/image"/><Relationship Id="rId5" Target="../media/image44.png" Type="http://schemas.openxmlformats.org/officeDocument/2006/relationships/image"/><Relationship Id="rId6" Target="../media/image45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6.png" Type="http://schemas.openxmlformats.org/officeDocument/2006/relationships/image"/><Relationship Id="rId3" Target="../media/image47.png" Type="http://schemas.openxmlformats.org/officeDocument/2006/relationships/image"/><Relationship Id="rId4" Target="../media/image48.png" Type="http://schemas.openxmlformats.org/officeDocument/2006/relationships/image"/><Relationship Id="rId5" Target="../media/image18.png" Type="http://schemas.openxmlformats.org/officeDocument/2006/relationships/image"/><Relationship Id="rId6" Target="../media/image19.svg" Type="http://schemas.openxmlformats.org/officeDocument/2006/relationships/image"/><Relationship Id="rId7" Target="../media/image20.png" Type="http://schemas.openxmlformats.org/officeDocument/2006/relationships/image"/><Relationship Id="rId8" Target="../media/image21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svg" Type="http://schemas.openxmlformats.org/officeDocument/2006/relationships/image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20.png" Type="http://schemas.openxmlformats.org/officeDocument/2006/relationships/image"/><Relationship Id="rId5" Target="../media/image21.svg" Type="http://schemas.openxmlformats.org/officeDocument/2006/relationships/image"/><Relationship Id="rId6" Target="../media/image49.png" Type="http://schemas.openxmlformats.org/officeDocument/2006/relationships/image"/><Relationship Id="rId7" Target="../media/image44.png" Type="http://schemas.openxmlformats.org/officeDocument/2006/relationships/image"/><Relationship Id="rId8" Target="../media/image45.sv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0.png" Type="http://schemas.openxmlformats.org/officeDocument/2006/relationships/image"/><Relationship Id="rId3" Target="../media/image51.png" Type="http://schemas.openxmlformats.org/officeDocument/2006/relationships/image"/><Relationship Id="rId4" Target="../media/image44.png" Type="http://schemas.openxmlformats.org/officeDocument/2006/relationships/image"/><Relationship Id="rId5" Target="../media/image45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5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.png" Type="http://schemas.openxmlformats.org/officeDocument/2006/relationships/image"/><Relationship Id="rId11" Target="../media/image7.svg" Type="http://schemas.openxmlformats.org/officeDocument/2006/relationships/image"/><Relationship Id="rId2" Target="../media/image27.png" Type="http://schemas.openxmlformats.org/officeDocument/2006/relationships/image"/><Relationship Id="rId3" Target="../media/image28.svg" Type="http://schemas.openxmlformats.org/officeDocument/2006/relationships/image"/><Relationship Id="rId4" Target="../media/image53.png" Type="http://schemas.openxmlformats.org/officeDocument/2006/relationships/image"/><Relationship Id="rId5" Target="../media/image54.png" Type="http://schemas.openxmlformats.org/officeDocument/2006/relationships/image"/><Relationship Id="rId6" Target="../media/image55.png" Type="http://schemas.openxmlformats.org/officeDocument/2006/relationships/image"/><Relationship Id="rId7" Target="../media/image56.png" Type="http://schemas.openxmlformats.org/officeDocument/2006/relationships/image"/><Relationship Id="rId8" Target="../media/image20.png" Type="http://schemas.openxmlformats.org/officeDocument/2006/relationships/image"/><Relationship Id="rId9" Target="../media/image21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5.png" Type="http://schemas.openxmlformats.org/officeDocument/2006/relationships/image"/><Relationship Id="rId11" Target="../media/image66.svg" Type="http://schemas.openxmlformats.org/officeDocument/2006/relationships/image"/><Relationship Id="rId12" Target="../media/image67.png" Type="http://schemas.openxmlformats.org/officeDocument/2006/relationships/image"/><Relationship Id="rId13" Target="../media/image68.svg" Type="http://schemas.openxmlformats.org/officeDocument/2006/relationships/image"/><Relationship Id="rId14" Target="../media/image4.png" Type="http://schemas.openxmlformats.org/officeDocument/2006/relationships/image"/><Relationship Id="rId15" Target="../media/image5.svg" Type="http://schemas.openxmlformats.org/officeDocument/2006/relationships/image"/><Relationship Id="rId16" Target="../media/image13.png" Type="http://schemas.openxmlformats.org/officeDocument/2006/relationships/image"/><Relationship Id="rId17" Target="../media/image14.svg" Type="http://schemas.openxmlformats.org/officeDocument/2006/relationships/image"/><Relationship Id="rId2" Target="../media/image57.png" Type="http://schemas.openxmlformats.org/officeDocument/2006/relationships/image"/><Relationship Id="rId3" Target="../media/image58.svg" Type="http://schemas.openxmlformats.org/officeDocument/2006/relationships/image"/><Relationship Id="rId4" Target="../media/image59.png" Type="http://schemas.openxmlformats.org/officeDocument/2006/relationships/image"/><Relationship Id="rId5" Target="../media/image60.svg" Type="http://schemas.openxmlformats.org/officeDocument/2006/relationships/image"/><Relationship Id="rId6" Target="../media/image61.png" Type="http://schemas.openxmlformats.org/officeDocument/2006/relationships/image"/><Relationship Id="rId7" Target="../media/image62.svg" Type="http://schemas.openxmlformats.org/officeDocument/2006/relationships/image"/><Relationship Id="rId8" Target="../media/image63.png" Type="http://schemas.openxmlformats.org/officeDocument/2006/relationships/image"/><Relationship Id="rId9" Target="../media/image6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07557" y="3033373"/>
            <a:ext cx="507278" cy="486987"/>
          </a:xfrm>
          <a:custGeom>
            <a:avLst/>
            <a:gdLst/>
            <a:ahLst/>
            <a:cxnLst/>
            <a:rect r="r" b="b" t="t" l="l"/>
            <a:pathLst>
              <a:path h="486987" w="507278">
                <a:moveTo>
                  <a:pt x="0" y="0"/>
                </a:moveTo>
                <a:lnTo>
                  <a:pt x="507278" y="0"/>
                </a:lnTo>
                <a:lnTo>
                  <a:pt x="507278" y="486987"/>
                </a:lnTo>
                <a:lnTo>
                  <a:pt x="0" y="4869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674502" y="2822101"/>
            <a:ext cx="5164671" cy="4650408"/>
          </a:xfrm>
          <a:custGeom>
            <a:avLst/>
            <a:gdLst/>
            <a:ahLst/>
            <a:cxnLst/>
            <a:rect r="r" b="b" t="t" l="l"/>
            <a:pathLst>
              <a:path h="4650408" w="5164671">
                <a:moveTo>
                  <a:pt x="0" y="0"/>
                </a:moveTo>
                <a:lnTo>
                  <a:pt x="5164670" y="0"/>
                </a:lnTo>
                <a:lnTo>
                  <a:pt x="5164670" y="4650408"/>
                </a:lnTo>
                <a:lnTo>
                  <a:pt x="0" y="46504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457710" y="3682285"/>
            <a:ext cx="8319790" cy="1455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75"/>
              </a:lnSpc>
            </a:pPr>
            <a:r>
              <a:rPr lang="en-US" b="true" sz="4197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Customer Shopping Behavior Analysis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457710" y="5172190"/>
            <a:ext cx="5746403" cy="306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18"/>
              </a:lnSpc>
            </a:pPr>
            <a:r>
              <a:rPr lang="en-US" sz="1798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Data Analysis Project Using Python, SQL &amp; Power BI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457710" y="6699993"/>
            <a:ext cx="8319790" cy="396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7"/>
              </a:lnSpc>
            </a:pPr>
            <a:r>
              <a:rPr lang="en-US" b="true" sz="2398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Presented By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457710" y="7048608"/>
            <a:ext cx="8319790" cy="471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17"/>
              </a:lnSpc>
            </a:pPr>
            <a:r>
              <a:rPr lang="en-US" b="true" sz="2798">
                <a:solidFill>
                  <a:srgbClr val="4B722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Parth Soni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-948577" y="8132336"/>
            <a:ext cx="2750430" cy="2975806"/>
          </a:xfrm>
          <a:custGeom>
            <a:avLst/>
            <a:gdLst/>
            <a:ahLst/>
            <a:cxnLst/>
            <a:rect r="r" b="b" t="t" l="l"/>
            <a:pathLst>
              <a:path h="2975806" w="2750430">
                <a:moveTo>
                  <a:pt x="0" y="0"/>
                </a:moveTo>
                <a:lnTo>
                  <a:pt x="2750430" y="0"/>
                </a:lnTo>
                <a:lnTo>
                  <a:pt x="2750430" y="2975805"/>
                </a:lnTo>
                <a:lnTo>
                  <a:pt x="0" y="29758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0800000">
            <a:off x="15772497" y="-2057400"/>
            <a:ext cx="4310743" cy="4114800"/>
          </a:xfrm>
          <a:custGeom>
            <a:avLst/>
            <a:gdLst/>
            <a:ahLst/>
            <a:cxnLst/>
            <a:rect r="r" b="b" t="t" l="l"/>
            <a:pathLst>
              <a:path h="4114800" w="4310743">
                <a:moveTo>
                  <a:pt x="0" y="0"/>
                </a:moveTo>
                <a:lnTo>
                  <a:pt x="4310743" y="0"/>
                </a:lnTo>
                <a:lnTo>
                  <a:pt x="431074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543230" y="8486837"/>
            <a:ext cx="2283441" cy="2620955"/>
          </a:xfrm>
          <a:custGeom>
            <a:avLst/>
            <a:gdLst/>
            <a:ahLst/>
            <a:cxnLst/>
            <a:rect r="r" b="b" t="t" l="l"/>
            <a:pathLst>
              <a:path h="2620955" w="2283441">
                <a:moveTo>
                  <a:pt x="0" y="0"/>
                </a:moveTo>
                <a:lnTo>
                  <a:pt x="2283442" y="0"/>
                </a:lnTo>
                <a:lnTo>
                  <a:pt x="2283442" y="2620955"/>
                </a:lnTo>
                <a:lnTo>
                  <a:pt x="0" y="262095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02003" y="3696517"/>
            <a:ext cx="3294208" cy="5271876"/>
            <a:chOff x="0" y="0"/>
            <a:chExt cx="988978" cy="15827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88978" cy="1582708"/>
            </a:xfrm>
            <a:custGeom>
              <a:avLst/>
              <a:gdLst/>
              <a:ahLst/>
              <a:cxnLst/>
              <a:rect r="r" b="b" t="t" l="l"/>
              <a:pathLst>
                <a:path h="1582708" w="988978">
                  <a:moveTo>
                    <a:pt x="0" y="0"/>
                  </a:moveTo>
                  <a:lnTo>
                    <a:pt x="988978" y="0"/>
                  </a:lnTo>
                  <a:lnTo>
                    <a:pt x="988978" y="1582708"/>
                  </a:lnTo>
                  <a:lnTo>
                    <a:pt x="0" y="1582708"/>
                  </a:lnTo>
                  <a:close/>
                </a:path>
              </a:pathLst>
            </a:custGeom>
            <a:solidFill>
              <a:srgbClr val="689F3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88978" cy="1620808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10800000">
            <a:off x="3146175" y="3991220"/>
            <a:ext cx="3005863" cy="4785400"/>
            <a:chOff x="0" y="0"/>
            <a:chExt cx="709992" cy="113032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09992" cy="1130323"/>
            </a:xfrm>
            <a:custGeom>
              <a:avLst/>
              <a:gdLst/>
              <a:ahLst/>
              <a:cxnLst/>
              <a:rect r="r" b="b" t="t" l="l"/>
              <a:pathLst>
                <a:path h="1130323" w="709992">
                  <a:moveTo>
                    <a:pt x="709992" y="0"/>
                  </a:moveTo>
                  <a:lnTo>
                    <a:pt x="709992" y="1016023"/>
                  </a:lnTo>
                  <a:lnTo>
                    <a:pt x="354996" y="1130323"/>
                  </a:lnTo>
                  <a:lnTo>
                    <a:pt x="0" y="1016023"/>
                  </a:lnTo>
                  <a:lnTo>
                    <a:pt x="0" y="0"/>
                  </a:lnTo>
                  <a:lnTo>
                    <a:pt x="709992" y="0"/>
                  </a:lnTo>
                  <a:close/>
                </a:path>
              </a:pathLst>
            </a:custGeom>
            <a:solidFill>
              <a:srgbClr val="AED58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709992" cy="1054123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813013" y="3099311"/>
            <a:ext cx="1672189" cy="1672189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ED581"/>
            </a:solidFill>
            <a:ln w="142875" cap="sq">
              <a:solidFill>
                <a:srgbClr val="689F38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496896" y="3696517"/>
            <a:ext cx="3294208" cy="5271876"/>
            <a:chOff x="0" y="0"/>
            <a:chExt cx="988978" cy="158270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88978" cy="1582708"/>
            </a:xfrm>
            <a:custGeom>
              <a:avLst/>
              <a:gdLst/>
              <a:ahLst/>
              <a:cxnLst/>
              <a:rect r="r" b="b" t="t" l="l"/>
              <a:pathLst>
                <a:path h="1582708" w="988978">
                  <a:moveTo>
                    <a:pt x="0" y="0"/>
                  </a:moveTo>
                  <a:lnTo>
                    <a:pt x="988978" y="0"/>
                  </a:lnTo>
                  <a:lnTo>
                    <a:pt x="988978" y="1582708"/>
                  </a:lnTo>
                  <a:lnTo>
                    <a:pt x="0" y="1582708"/>
                  </a:lnTo>
                  <a:close/>
                </a:path>
              </a:pathLst>
            </a:custGeom>
            <a:solidFill>
              <a:srgbClr val="AED581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988978" cy="1620808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10800000">
            <a:off x="7641068" y="3991220"/>
            <a:ext cx="3005863" cy="4785400"/>
            <a:chOff x="0" y="0"/>
            <a:chExt cx="709992" cy="113032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09992" cy="1130323"/>
            </a:xfrm>
            <a:custGeom>
              <a:avLst/>
              <a:gdLst/>
              <a:ahLst/>
              <a:cxnLst/>
              <a:rect r="r" b="b" t="t" l="l"/>
              <a:pathLst>
                <a:path h="1130323" w="709992">
                  <a:moveTo>
                    <a:pt x="709992" y="0"/>
                  </a:moveTo>
                  <a:lnTo>
                    <a:pt x="709992" y="1016023"/>
                  </a:lnTo>
                  <a:lnTo>
                    <a:pt x="354996" y="1130323"/>
                  </a:lnTo>
                  <a:lnTo>
                    <a:pt x="0" y="1016023"/>
                  </a:lnTo>
                  <a:lnTo>
                    <a:pt x="0" y="0"/>
                  </a:lnTo>
                  <a:lnTo>
                    <a:pt x="709992" y="0"/>
                  </a:lnTo>
                  <a:close/>
                </a:path>
              </a:pathLst>
            </a:custGeom>
            <a:solidFill>
              <a:srgbClr val="DCEDC8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709992" cy="1054123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307906" y="3099311"/>
            <a:ext cx="1672189" cy="1672189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CEDC8"/>
            </a:solidFill>
            <a:ln w="142875" cap="sq">
              <a:solidFill>
                <a:srgbClr val="AED581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991254" y="3696517"/>
            <a:ext cx="3294208" cy="5271876"/>
            <a:chOff x="0" y="0"/>
            <a:chExt cx="988978" cy="158270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88978" cy="1582708"/>
            </a:xfrm>
            <a:custGeom>
              <a:avLst/>
              <a:gdLst/>
              <a:ahLst/>
              <a:cxnLst/>
              <a:rect r="r" b="b" t="t" l="l"/>
              <a:pathLst>
                <a:path h="1582708" w="988978">
                  <a:moveTo>
                    <a:pt x="0" y="0"/>
                  </a:moveTo>
                  <a:lnTo>
                    <a:pt x="988978" y="0"/>
                  </a:lnTo>
                  <a:lnTo>
                    <a:pt x="988978" y="1582708"/>
                  </a:lnTo>
                  <a:lnTo>
                    <a:pt x="0" y="1582708"/>
                  </a:lnTo>
                  <a:close/>
                </a:path>
              </a:pathLst>
            </a:custGeom>
            <a:solidFill>
              <a:srgbClr val="DCEDC8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988978" cy="1620808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-10800000">
            <a:off x="12135426" y="3991220"/>
            <a:ext cx="3005863" cy="4785400"/>
            <a:chOff x="0" y="0"/>
            <a:chExt cx="709992" cy="113032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09992" cy="1130323"/>
            </a:xfrm>
            <a:custGeom>
              <a:avLst/>
              <a:gdLst/>
              <a:ahLst/>
              <a:cxnLst/>
              <a:rect r="r" b="b" t="t" l="l"/>
              <a:pathLst>
                <a:path h="1130323" w="709992">
                  <a:moveTo>
                    <a:pt x="709992" y="0"/>
                  </a:moveTo>
                  <a:lnTo>
                    <a:pt x="709992" y="1016023"/>
                  </a:lnTo>
                  <a:lnTo>
                    <a:pt x="354996" y="1130323"/>
                  </a:lnTo>
                  <a:lnTo>
                    <a:pt x="0" y="1016023"/>
                  </a:lnTo>
                  <a:lnTo>
                    <a:pt x="0" y="0"/>
                  </a:lnTo>
                  <a:lnTo>
                    <a:pt x="709992" y="0"/>
                  </a:lnTo>
                  <a:close/>
                </a:path>
              </a:pathLst>
            </a:custGeom>
            <a:solidFill>
              <a:srgbClr val="AED581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709992" cy="1054123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2802264" y="3099311"/>
            <a:ext cx="1672189" cy="1672189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ED581"/>
            </a:solidFill>
            <a:ln w="142875" cap="sq">
              <a:solidFill>
                <a:srgbClr val="DCEDC8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4337466" y="3670626"/>
            <a:ext cx="622101" cy="691394"/>
          </a:xfrm>
          <a:custGeom>
            <a:avLst/>
            <a:gdLst/>
            <a:ahLst/>
            <a:cxnLst/>
            <a:rect r="r" b="b" t="t" l="l"/>
            <a:pathLst>
              <a:path h="691394" w="622101">
                <a:moveTo>
                  <a:pt x="0" y="0"/>
                </a:moveTo>
                <a:lnTo>
                  <a:pt x="622101" y="0"/>
                </a:lnTo>
                <a:lnTo>
                  <a:pt x="622101" y="691394"/>
                </a:lnTo>
                <a:lnTo>
                  <a:pt x="0" y="6913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8835864" y="3675011"/>
            <a:ext cx="621325" cy="628319"/>
          </a:xfrm>
          <a:custGeom>
            <a:avLst/>
            <a:gdLst/>
            <a:ahLst/>
            <a:cxnLst/>
            <a:rect r="r" b="b" t="t" l="l"/>
            <a:pathLst>
              <a:path h="628319" w="621325">
                <a:moveTo>
                  <a:pt x="0" y="0"/>
                </a:moveTo>
                <a:lnTo>
                  <a:pt x="621325" y="0"/>
                </a:lnTo>
                <a:lnTo>
                  <a:pt x="621325" y="628319"/>
                </a:lnTo>
                <a:lnTo>
                  <a:pt x="0" y="6283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3245346" y="3546348"/>
            <a:ext cx="644882" cy="611154"/>
          </a:xfrm>
          <a:custGeom>
            <a:avLst/>
            <a:gdLst/>
            <a:ahLst/>
            <a:cxnLst/>
            <a:rect r="r" b="b" t="t" l="l"/>
            <a:pathLst>
              <a:path h="611154" w="644882">
                <a:moveTo>
                  <a:pt x="0" y="0"/>
                </a:moveTo>
                <a:lnTo>
                  <a:pt x="644882" y="0"/>
                </a:lnTo>
                <a:lnTo>
                  <a:pt x="644882" y="611154"/>
                </a:lnTo>
                <a:lnTo>
                  <a:pt x="0" y="6111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-948577" y="8132336"/>
            <a:ext cx="2750430" cy="2975806"/>
          </a:xfrm>
          <a:custGeom>
            <a:avLst/>
            <a:gdLst/>
            <a:ahLst/>
            <a:cxnLst/>
            <a:rect r="r" b="b" t="t" l="l"/>
            <a:pathLst>
              <a:path h="2975806" w="2750430">
                <a:moveTo>
                  <a:pt x="0" y="0"/>
                </a:moveTo>
                <a:lnTo>
                  <a:pt x="2750430" y="0"/>
                </a:lnTo>
                <a:lnTo>
                  <a:pt x="2750430" y="2975805"/>
                </a:lnTo>
                <a:lnTo>
                  <a:pt x="0" y="29758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6891642" y="-363110"/>
            <a:ext cx="2317321" cy="2237269"/>
          </a:xfrm>
          <a:custGeom>
            <a:avLst/>
            <a:gdLst/>
            <a:ahLst/>
            <a:cxnLst/>
            <a:rect r="r" b="b" t="t" l="l"/>
            <a:pathLst>
              <a:path h="2237269" w="2317321">
                <a:moveTo>
                  <a:pt x="0" y="0"/>
                </a:moveTo>
                <a:lnTo>
                  <a:pt x="2317322" y="0"/>
                </a:lnTo>
                <a:lnTo>
                  <a:pt x="2317322" y="2237268"/>
                </a:lnTo>
                <a:lnTo>
                  <a:pt x="0" y="223726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5309360" y="1242407"/>
            <a:ext cx="7669281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80"/>
              </a:lnSpc>
            </a:pPr>
            <a:r>
              <a:rPr lang="en-US" b="true" sz="4200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Project Overview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3416502" y="5105517"/>
            <a:ext cx="2465209" cy="356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7"/>
              </a:lnSpc>
            </a:pPr>
            <a:r>
              <a:rPr lang="en-US" b="true" sz="2098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Dataset &amp; Scope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3503371" y="5939681"/>
            <a:ext cx="2291471" cy="1931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14"/>
              </a:lnSpc>
            </a:pPr>
            <a:r>
              <a:rPr lang="en-US" sz="1582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Analyzed 3,900 purchases across multiple product categories, covering demographics, purchase details, and shopping behavior patterns.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911395" y="5105517"/>
            <a:ext cx="2465209" cy="356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7"/>
              </a:lnSpc>
            </a:pPr>
            <a:r>
              <a:rPr lang="en-US" b="true" sz="2098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Key Objectives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998264" y="5939681"/>
            <a:ext cx="2291471" cy="1931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14"/>
              </a:lnSpc>
            </a:pPr>
            <a:r>
              <a:rPr lang="en-US" sz="1582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Uncover spending patterns, customer segments, product preferences, and subscription behavior to drive data-informed business decisions.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410354" y="5105517"/>
            <a:ext cx="2465209" cy="72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7"/>
              </a:lnSpc>
            </a:pPr>
            <a:r>
              <a:rPr lang="en-US" b="true" sz="2098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Analytical Approach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497223" y="5939681"/>
            <a:ext cx="2291471" cy="1931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14"/>
              </a:lnSpc>
            </a:pPr>
            <a:r>
              <a:rPr lang="en-US" sz="1582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Exploratory data analysis using Python, SQL business queries on PostgreSQL, Power BI visualization, and strategic recommendations.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02003" y="4223466"/>
            <a:ext cx="3460617" cy="4336468"/>
            <a:chOff x="0" y="0"/>
            <a:chExt cx="1038937" cy="13018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38937" cy="1301882"/>
            </a:xfrm>
            <a:custGeom>
              <a:avLst/>
              <a:gdLst/>
              <a:ahLst/>
              <a:cxnLst/>
              <a:rect r="r" b="b" t="t" l="l"/>
              <a:pathLst>
                <a:path h="1301882" w="1038937">
                  <a:moveTo>
                    <a:pt x="0" y="0"/>
                  </a:moveTo>
                  <a:lnTo>
                    <a:pt x="1038937" y="0"/>
                  </a:lnTo>
                  <a:lnTo>
                    <a:pt x="1038937" y="1301882"/>
                  </a:lnTo>
                  <a:lnTo>
                    <a:pt x="0" y="1301882"/>
                  </a:lnTo>
                  <a:close/>
                </a:path>
              </a:pathLst>
            </a:custGeom>
            <a:solidFill>
              <a:srgbClr val="AED58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38937" cy="1339982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715688" y="4000198"/>
            <a:ext cx="3460617" cy="4336468"/>
            <a:chOff x="0" y="0"/>
            <a:chExt cx="1038937" cy="130188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38937" cy="1301882"/>
            </a:xfrm>
            <a:custGeom>
              <a:avLst/>
              <a:gdLst/>
              <a:ahLst/>
              <a:cxnLst/>
              <a:rect r="r" b="b" t="t" l="l"/>
              <a:pathLst>
                <a:path h="1301882" w="1038937">
                  <a:moveTo>
                    <a:pt x="0" y="0"/>
                  </a:moveTo>
                  <a:lnTo>
                    <a:pt x="1038937" y="0"/>
                  </a:lnTo>
                  <a:lnTo>
                    <a:pt x="1038937" y="1301882"/>
                  </a:lnTo>
                  <a:lnTo>
                    <a:pt x="0" y="1301882"/>
                  </a:lnTo>
                  <a:close/>
                </a:path>
              </a:pathLst>
            </a:custGeom>
            <a:solidFill>
              <a:srgbClr val="689F3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038937" cy="1339982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556849" y="4223466"/>
            <a:ext cx="3460617" cy="4336468"/>
            <a:chOff x="0" y="0"/>
            <a:chExt cx="1038937" cy="130188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38937" cy="1301882"/>
            </a:xfrm>
            <a:custGeom>
              <a:avLst/>
              <a:gdLst/>
              <a:ahLst/>
              <a:cxnLst/>
              <a:rect r="r" b="b" t="t" l="l"/>
              <a:pathLst>
                <a:path h="1301882" w="1038937">
                  <a:moveTo>
                    <a:pt x="0" y="0"/>
                  </a:moveTo>
                  <a:lnTo>
                    <a:pt x="1038937" y="0"/>
                  </a:lnTo>
                  <a:lnTo>
                    <a:pt x="1038937" y="1301882"/>
                  </a:lnTo>
                  <a:lnTo>
                    <a:pt x="0" y="1301882"/>
                  </a:lnTo>
                  <a:close/>
                </a:path>
              </a:pathLst>
            </a:custGeom>
            <a:solidFill>
              <a:srgbClr val="DCEDC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038937" cy="1339982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270534" y="4000198"/>
            <a:ext cx="3460617" cy="4336468"/>
            <a:chOff x="0" y="0"/>
            <a:chExt cx="1038937" cy="130188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38937" cy="1301882"/>
            </a:xfrm>
            <a:custGeom>
              <a:avLst/>
              <a:gdLst/>
              <a:ahLst/>
              <a:cxnLst/>
              <a:rect r="r" b="b" t="t" l="l"/>
              <a:pathLst>
                <a:path h="1301882" w="1038937">
                  <a:moveTo>
                    <a:pt x="0" y="0"/>
                  </a:moveTo>
                  <a:lnTo>
                    <a:pt x="1038937" y="0"/>
                  </a:lnTo>
                  <a:lnTo>
                    <a:pt x="1038937" y="1301882"/>
                  </a:lnTo>
                  <a:lnTo>
                    <a:pt x="0" y="1301882"/>
                  </a:lnTo>
                  <a:close/>
                </a:path>
              </a:pathLst>
            </a:custGeom>
            <a:solidFill>
              <a:srgbClr val="AED581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038937" cy="1339982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113407" y="4223466"/>
            <a:ext cx="3460617" cy="4336468"/>
            <a:chOff x="0" y="0"/>
            <a:chExt cx="1038937" cy="130188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38937" cy="1301882"/>
            </a:xfrm>
            <a:custGeom>
              <a:avLst/>
              <a:gdLst/>
              <a:ahLst/>
              <a:cxnLst/>
              <a:rect r="r" b="b" t="t" l="l"/>
              <a:pathLst>
                <a:path h="1301882" w="1038937">
                  <a:moveTo>
                    <a:pt x="0" y="0"/>
                  </a:moveTo>
                  <a:lnTo>
                    <a:pt x="1038937" y="0"/>
                  </a:lnTo>
                  <a:lnTo>
                    <a:pt x="1038937" y="1301882"/>
                  </a:lnTo>
                  <a:lnTo>
                    <a:pt x="0" y="1301882"/>
                  </a:lnTo>
                  <a:close/>
                </a:path>
              </a:pathLst>
            </a:custGeom>
            <a:solidFill>
              <a:srgbClr val="AED581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038937" cy="1339982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827091" y="4000198"/>
            <a:ext cx="3460617" cy="4336468"/>
            <a:chOff x="0" y="0"/>
            <a:chExt cx="1038937" cy="130188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38937" cy="1301882"/>
            </a:xfrm>
            <a:custGeom>
              <a:avLst/>
              <a:gdLst/>
              <a:ahLst/>
              <a:cxnLst/>
              <a:rect r="r" b="b" t="t" l="l"/>
              <a:pathLst>
                <a:path h="1301882" w="1038937">
                  <a:moveTo>
                    <a:pt x="0" y="0"/>
                  </a:moveTo>
                  <a:lnTo>
                    <a:pt x="1038937" y="0"/>
                  </a:lnTo>
                  <a:lnTo>
                    <a:pt x="1038937" y="1301882"/>
                  </a:lnTo>
                  <a:lnTo>
                    <a:pt x="0" y="1301882"/>
                  </a:lnTo>
                  <a:close/>
                </a:path>
              </a:pathLst>
            </a:custGeom>
            <a:solidFill>
              <a:srgbClr val="DCEDC8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038937" cy="1339982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4118492" y="4342809"/>
            <a:ext cx="689196" cy="606927"/>
          </a:xfrm>
          <a:custGeom>
            <a:avLst/>
            <a:gdLst/>
            <a:ahLst/>
            <a:cxnLst/>
            <a:rect r="r" b="b" t="t" l="l"/>
            <a:pathLst>
              <a:path h="606927" w="689196">
                <a:moveTo>
                  <a:pt x="0" y="0"/>
                </a:moveTo>
                <a:lnTo>
                  <a:pt x="689196" y="0"/>
                </a:lnTo>
                <a:lnTo>
                  <a:pt x="689196" y="606927"/>
                </a:lnTo>
                <a:lnTo>
                  <a:pt x="0" y="6069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8573021" y="4142330"/>
            <a:ext cx="809998" cy="958827"/>
          </a:xfrm>
          <a:custGeom>
            <a:avLst/>
            <a:gdLst/>
            <a:ahLst/>
            <a:cxnLst/>
            <a:rect r="r" b="b" t="t" l="l"/>
            <a:pathLst>
              <a:path h="958827" w="809998">
                <a:moveTo>
                  <a:pt x="0" y="0"/>
                </a:moveTo>
                <a:lnTo>
                  <a:pt x="809998" y="0"/>
                </a:lnTo>
                <a:lnTo>
                  <a:pt x="809998" y="958827"/>
                </a:lnTo>
                <a:lnTo>
                  <a:pt x="0" y="9588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3019785" y="4246848"/>
            <a:ext cx="1014029" cy="862793"/>
          </a:xfrm>
          <a:custGeom>
            <a:avLst/>
            <a:gdLst/>
            <a:ahLst/>
            <a:cxnLst/>
            <a:rect r="r" b="b" t="t" l="l"/>
            <a:pathLst>
              <a:path h="862793" w="1014029">
                <a:moveTo>
                  <a:pt x="0" y="0"/>
                </a:moveTo>
                <a:lnTo>
                  <a:pt x="1014029" y="0"/>
                </a:lnTo>
                <a:lnTo>
                  <a:pt x="1014029" y="862793"/>
                </a:lnTo>
                <a:lnTo>
                  <a:pt x="0" y="8627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true" rot="0">
            <a:off x="16528583" y="8559934"/>
            <a:ext cx="2147582" cy="2128513"/>
          </a:xfrm>
          <a:custGeom>
            <a:avLst/>
            <a:gdLst/>
            <a:ahLst/>
            <a:cxnLst/>
            <a:rect r="r" b="b" t="t" l="l"/>
            <a:pathLst>
              <a:path h="2128513" w="2147582">
                <a:moveTo>
                  <a:pt x="0" y="2128512"/>
                </a:moveTo>
                <a:lnTo>
                  <a:pt x="2147582" y="2128512"/>
                </a:lnTo>
                <a:lnTo>
                  <a:pt x="2147582" y="0"/>
                </a:lnTo>
                <a:lnTo>
                  <a:pt x="0" y="0"/>
                </a:lnTo>
                <a:lnTo>
                  <a:pt x="0" y="2128512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5883590" y="1242407"/>
            <a:ext cx="6519544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80"/>
              </a:lnSpc>
            </a:pPr>
            <a:r>
              <a:rPr lang="en-US" b="true" sz="4200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Dataset Summary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964540" y="5390546"/>
            <a:ext cx="2962913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40"/>
              </a:lnSpc>
            </a:pPr>
            <a:r>
              <a:rPr lang="en-US" b="true" sz="2100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Dataset Structure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103595" y="6286909"/>
            <a:ext cx="2684802" cy="1406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67"/>
              </a:lnSpc>
            </a:pPr>
            <a:r>
              <a:rPr lang="en-US" sz="1619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3,900 rows and 18 columns covering customer demographics, purchase details, and shopping behavior patterns.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519386" y="5390546"/>
            <a:ext cx="2962913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40"/>
              </a:lnSpc>
            </a:pPr>
            <a:r>
              <a:rPr lang="en-US" b="true" sz="2100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Key Variables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658441" y="6286909"/>
            <a:ext cx="2684802" cy="1406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67"/>
              </a:lnSpc>
            </a:pPr>
            <a:r>
              <a:rPr lang="en-US" sz="1619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Age, Gender, Location, Purchase Amount, Category, Season, Subscription Status, Frequency, and Review Rating.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075943" y="5390546"/>
            <a:ext cx="2962913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40"/>
              </a:lnSpc>
            </a:pPr>
            <a:r>
              <a:rPr lang="en-US" b="true" sz="2100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 Quality Note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214999" y="6286909"/>
            <a:ext cx="2684802" cy="14066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267"/>
              </a:lnSpc>
            </a:pPr>
            <a:r>
              <a:rPr lang="en-US" sz="1619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37 missing values identified in the Review Rating column, handled by imputing the median per product category.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-843960" y="-603305"/>
            <a:ext cx="2448613" cy="2159231"/>
          </a:xfrm>
          <a:custGeom>
            <a:avLst/>
            <a:gdLst/>
            <a:ahLst/>
            <a:cxnLst/>
            <a:rect r="r" b="b" t="t" l="l"/>
            <a:pathLst>
              <a:path h="2159231" w="2448613">
                <a:moveTo>
                  <a:pt x="0" y="0"/>
                </a:moveTo>
                <a:lnTo>
                  <a:pt x="2448612" y="0"/>
                </a:lnTo>
                <a:lnTo>
                  <a:pt x="2448612" y="2159231"/>
                </a:lnTo>
                <a:lnTo>
                  <a:pt x="0" y="215923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02003" y="3696517"/>
            <a:ext cx="3899333" cy="4606239"/>
            <a:chOff x="0" y="0"/>
            <a:chExt cx="1170647" cy="13828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647" cy="1382872"/>
            </a:xfrm>
            <a:custGeom>
              <a:avLst/>
              <a:gdLst/>
              <a:ahLst/>
              <a:cxnLst/>
              <a:rect r="r" b="b" t="t" l="l"/>
              <a:pathLst>
                <a:path h="1382872" w="1170647">
                  <a:moveTo>
                    <a:pt x="0" y="0"/>
                  </a:moveTo>
                  <a:lnTo>
                    <a:pt x="1170647" y="0"/>
                  </a:lnTo>
                  <a:lnTo>
                    <a:pt x="1170647" y="1382872"/>
                  </a:lnTo>
                  <a:lnTo>
                    <a:pt x="0" y="1382872"/>
                  </a:lnTo>
                  <a:close/>
                </a:path>
              </a:pathLst>
            </a:custGeom>
            <a:solidFill>
              <a:srgbClr val="689F3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170647" cy="1420972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59128" y="7410215"/>
            <a:ext cx="1785082" cy="1785082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AED58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27000" y="88900"/>
              <a:ext cx="558800" cy="596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194334" y="3696517"/>
            <a:ext cx="3899333" cy="4606239"/>
            <a:chOff x="0" y="0"/>
            <a:chExt cx="1170647" cy="13828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70647" cy="1382872"/>
            </a:xfrm>
            <a:custGeom>
              <a:avLst/>
              <a:gdLst/>
              <a:ahLst/>
              <a:cxnLst/>
              <a:rect r="r" b="b" t="t" l="l"/>
              <a:pathLst>
                <a:path h="1382872" w="1170647">
                  <a:moveTo>
                    <a:pt x="0" y="0"/>
                  </a:moveTo>
                  <a:lnTo>
                    <a:pt x="1170647" y="0"/>
                  </a:lnTo>
                  <a:lnTo>
                    <a:pt x="1170647" y="1382872"/>
                  </a:lnTo>
                  <a:lnTo>
                    <a:pt x="0" y="1382872"/>
                  </a:lnTo>
                  <a:close/>
                </a:path>
              </a:pathLst>
            </a:custGeom>
            <a:solidFill>
              <a:srgbClr val="AED581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170647" cy="1420972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251459" y="7410215"/>
            <a:ext cx="1785082" cy="1785082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DCEDC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27000" y="88900"/>
              <a:ext cx="558800" cy="596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388941" y="3696517"/>
            <a:ext cx="3899333" cy="4606239"/>
            <a:chOff x="0" y="0"/>
            <a:chExt cx="1170647" cy="138287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70647" cy="1382872"/>
            </a:xfrm>
            <a:custGeom>
              <a:avLst/>
              <a:gdLst/>
              <a:ahLst/>
              <a:cxnLst/>
              <a:rect r="r" b="b" t="t" l="l"/>
              <a:pathLst>
                <a:path h="1382872" w="1170647">
                  <a:moveTo>
                    <a:pt x="0" y="0"/>
                  </a:moveTo>
                  <a:lnTo>
                    <a:pt x="1170647" y="0"/>
                  </a:lnTo>
                  <a:lnTo>
                    <a:pt x="1170647" y="1382872"/>
                  </a:lnTo>
                  <a:lnTo>
                    <a:pt x="0" y="1382872"/>
                  </a:lnTo>
                  <a:close/>
                </a:path>
              </a:pathLst>
            </a:custGeom>
            <a:solidFill>
              <a:srgbClr val="DCEDC8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170647" cy="1420972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446067" y="7410215"/>
            <a:ext cx="1785082" cy="1785082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AED581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27000" y="88900"/>
              <a:ext cx="558800" cy="596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4657005" y="8089882"/>
            <a:ext cx="586266" cy="571234"/>
          </a:xfrm>
          <a:custGeom>
            <a:avLst/>
            <a:gdLst/>
            <a:ahLst/>
            <a:cxnLst/>
            <a:rect r="r" b="b" t="t" l="l"/>
            <a:pathLst>
              <a:path h="571234" w="586266">
                <a:moveTo>
                  <a:pt x="0" y="0"/>
                </a:moveTo>
                <a:lnTo>
                  <a:pt x="586266" y="0"/>
                </a:lnTo>
                <a:lnTo>
                  <a:pt x="586266" y="571234"/>
                </a:lnTo>
                <a:lnTo>
                  <a:pt x="0" y="5712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8842275" y="7965189"/>
            <a:ext cx="603806" cy="619728"/>
          </a:xfrm>
          <a:custGeom>
            <a:avLst/>
            <a:gdLst/>
            <a:ahLst/>
            <a:cxnLst/>
            <a:rect r="r" b="b" t="t" l="l"/>
            <a:pathLst>
              <a:path h="619728" w="603806">
                <a:moveTo>
                  <a:pt x="0" y="0"/>
                </a:moveTo>
                <a:lnTo>
                  <a:pt x="603806" y="0"/>
                </a:lnTo>
                <a:lnTo>
                  <a:pt x="603806" y="619728"/>
                </a:lnTo>
                <a:lnTo>
                  <a:pt x="0" y="6197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6143557" y="-765709"/>
            <a:ext cx="3230536" cy="2636925"/>
          </a:xfrm>
          <a:custGeom>
            <a:avLst/>
            <a:gdLst/>
            <a:ahLst/>
            <a:cxnLst/>
            <a:rect r="r" b="b" t="t" l="l"/>
            <a:pathLst>
              <a:path h="2636925" w="3230536">
                <a:moveTo>
                  <a:pt x="0" y="0"/>
                </a:moveTo>
                <a:lnTo>
                  <a:pt x="3230536" y="0"/>
                </a:lnTo>
                <a:lnTo>
                  <a:pt x="3230536" y="2636926"/>
                </a:lnTo>
                <a:lnTo>
                  <a:pt x="0" y="26369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-616420" y="8824634"/>
            <a:ext cx="2283441" cy="2620880"/>
          </a:xfrm>
          <a:custGeom>
            <a:avLst/>
            <a:gdLst/>
            <a:ahLst/>
            <a:cxnLst/>
            <a:rect r="r" b="b" t="t" l="l"/>
            <a:pathLst>
              <a:path h="2620880" w="2283441">
                <a:moveTo>
                  <a:pt x="0" y="0"/>
                </a:moveTo>
                <a:lnTo>
                  <a:pt x="2283442" y="0"/>
                </a:lnTo>
                <a:lnTo>
                  <a:pt x="2283442" y="2620880"/>
                </a:lnTo>
                <a:lnTo>
                  <a:pt x="0" y="26208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2498572" y="7930163"/>
            <a:ext cx="1591533" cy="715769"/>
          </a:xfrm>
          <a:custGeom>
            <a:avLst/>
            <a:gdLst/>
            <a:ahLst/>
            <a:cxnLst/>
            <a:rect r="r" b="b" t="t" l="l"/>
            <a:pathLst>
              <a:path h="715769" w="1591533">
                <a:moveTo>
                  <a:pt x="0" y="0"/>
                </a:moveTo>
                <a:lnTo>
                  <a:pt x="1591533" y="0"/>
                </a:lnTo>
                <a:lnTo>
                  <a:pt x="1591533" y="715769"/>
                </a:lnTo>
                <a:lnTo>
                  <a:pt x="0" y="7157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5883590" y="1251932"/>
            <a:ext cx="6519544" cy="1304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291"/>
              </a:lnSpc>
            </a:pPr>
            <a:r>
              <a:rPr lang="en-US" b="true" sz="3779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Exploratory Data Analysis</a:t>
            </a:r>
          </a:p>
          <a:p>
            <a:pPr algn="ctr" marL="0" indent="0" lvl="0">
              <a:lnSpc>
                <a:spcPts val="5291"/>
              </a:lnSpc>
            </a:pPr>
            <a:r>
              <a:rPr lang="en-US" b="true" sz="3779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 Preparation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719065" y="4228087"/>
            <a:ext cx="2465209" cy="72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7"/>
              </a:lnSpc>
            </a:pPr>
            <a:r>
              <a:rPr lang="en-US" b="true" sz="2098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Load &amp; Explore Data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609268" y="5114925"/>
            <a:ext cx="2684802" cy="1791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82"/>
              </a:lnSpc>
            </a:pPr>
            <a:r>
              <a:rPr lang="en-US" sz="1487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Loaded the dataset using pandas. Performed initial exploration with df.info() and .describe() to understand structure, data types, and basic statistics across 3,900 rows and 18 columns.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910758" y="4228087"/>
            <a:ext cx="2465209" cy="72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7"/>
              </a:lnSpc>
            </a:pPr>
            <a:r>
              <a:rPr lang="en-US" b="true" sz="2098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Handle Missing Values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800961" y="5114925"/>
            <a:ext cx="2684802" cy="1533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82"/>
              </a:lnSpc>
            </a:pPr>
            <a:r>
              <a:rPr lang="en-US" sz="1487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Identified 37 missing values in the Review Rating column. Imputed missing ratings using the median value per product category to preserve data integrity and avoid bias.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108338" y="4228087"/>
            <a:ext cx="2465209" cy="72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7"/>
              </a:lnSpc>
            </a:pPr>
            <a:r>
              <a:rPr lang="en-US" b="true" sz="2098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Standardize Column Names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998541" y="5114925"/>
            <a:ext cx="2684802" cy="1791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82"/>
              </a:lnSpc>
            </a:pPr>
            <a:r>
              <a:rPr lang="en-US" sz="1487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Renamed all column headers to snake_case format for consistency and compatibility with Python and SQL workflows. Ensured uniform naming conventions throughout the dataset.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617711" y="3509687"/>
            <a:ext cx="5051303" cy="5405090"/>
          </a:xfrm>
          <a:custGeom>
            <a:avLst/>
            <a:gdLst/>
            <a:ahLst/>
            <a:cxnLst/>
            <a:rect r="r" b="b" t="t" l="l"/>
            <a:pathLst>
              <a:path h="5405090" w="5051303">
                <a:moveTo>
                  <a:pt x="0" y="0"/>
                </a:moveTo>
                <a:lnTo>
                  <a:pt x="5051303" y="0"/>
                </a:lnTo>
                <a:lnTo>
                  <a:pt x="5051303" y="5405090"/>
                </a:lnTo>
                <a:lnTo>
                  <a:pt x="0" y="54050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222100" y="5147443"/>
            <a:ext cx="701990" cy="868712"/>
          </a:xfrm>
          <a:custGeom>
            <a:avLst/>
            <a:gdLst/>
            <a:ahLst/>
            <a:cxnLst/>
            <a:rect r="r" b="b" t="t" l="l"/>
            <a:pathLst>
              <a:path h="868712" w="701990">
                <a:moveTo>
                  <a:pt x="0" y="0"/>
                </a:moveTo>
                <a:lnTo>
                  <a:pt x="701989" y="0"/>
                </a:lnTo>
                <a:lnTo>
                  <a:pt x="701989" y="868712"/>
                </a:lnTo>
                <a:lnTo>
                  <a:pt x="0" y="8687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155402" y="7838139"/>
            <a:ext cx="831795" cy="844005"/>
          </a:xfrm>
          <a:custGeom>
            <a:avLst/>
            <a:gdLst/>
            <a:ahLst/>
            <a:cxnLst/>
            <a:rect r="r" b="b" t="t" l="l"/>
            <a:pathLst>
              <a:path h="844005" w="831795">
                <a:moveTo>
                  <a:pt x="0" y="0"/>
                </a:moveTo>
                <a:lnTo>
                  <a:pt x="831795" y="0"/>
                </a:lnTo>
                <a:lnTo>
                  <a:pt x="831795" y="844005"/>
                </a:lnTo>
                <a:lnTo>
                  <a:pt x="0" y="8440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118294" y="3920366"/>
            <a:ext cx="1252396" cy="1034108"/>
          </a:xfrm>
          <a:custGeom>
            <a:avLst/>
            <a:gdLst/>
            <a:ahLst/>
            <a:cxnLst/>
            <a:rect r="r" b="b" t="t" l="l"/>
            <a:pathLst>
              <a:path h="1034108" w="1252396">
                <a:moveTo>
                  <a:pt x="0" y="0"/>
                </a:moveTo>
                <a:lnTo>
                  <a:pt x="1252396" y="0"/>
                </a:lnTo>
                <a:lnTo>
                  <a:pt x="1252396" y="1034109"/>
                </a:lnTo>
                <a:lnTo>
                  <a:pt x="0" y="103410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369980" y="6386887"/>
            <a:ext cx="685482" cy="879047"/>
          </a:xfrm>
          <a:custGeom>
            <a:avLst/>
            <a:gdLst/>
            <a:ahLst/>
            <a:cxnLst/>
            <a:rect r="r" b="b" t="t" l="l"/>
            <a:pathLst>
              <a:path h="879047" w="685482">
                <a:moveTo>
                  <a:pt x="0" y="0"/>
                </a:moveTo>
                <a:lnTo>
                  <a:pt x="685482" y="0"/>
                </a:lnTo>
                <a:lnTo>
                  <a:pt x="685482" y="879047"/>
                </a:lnTo>
                <a:lnTo>
                  <a:pt x="0" y="87904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843960" y="-603305"/>
            <a:ext cx="2448613" cy="2159231"/>
          </a:xfrm>
          <a:custGeom>
            <a:avLst/>
            <a:gdLst/>
            <a:ahLst/>
            <a:cxnLst/>
            <a:rect r="r" b="b" t="t" l="l"/>
            <a:pathLst>
              <a:path h="2159231" w="2448613">
                <a:moveTo>
                  <a:pt x="0" y="0"/>
                </a:moveTo>
                <a:lnTo>
                  <a:pt x="2448612" y="0"/>
                </a:lnTo>
                <a:lnTo>
                  <a:pt x="2448612" y="2159231"/>
                </a:lnTo>
                <a:lnTo>
                  <a:pt x="0" y="215923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322676" y="8441453"/>
            <a:ext cx="4310743" cy="4114800"/>
          </a:xfrm>
          <a:custGeom>
            <a:avLst/>
            <a:gdLst/>
            <a:ahLst/>
            <a:cxnLst/>
            <a:rect r="r" b="b" t="t" l="l"/>
            <a:pathLst>
              <a:path h="4114800" w="4310743">
                <a:moveTo>
                  <a:pt x="0" y="0"/>
                </a:moveTo>
                <a:lnTo>
                  <a:pt x="4310742" y="0"/>
                </a:lnTo>
                <a:lnTo>
                  <a:pt x="431074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883590" y="1242407"/>
            <a:ext cx="6519544" cy="1455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75"/>
              </a:lnSpc>
            </a:pPr>
            <a:r>
              <a:rPr lang="en-US" b="true" sz="4197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Feature Engineering</a:t>
            </a:r>
          </a:p>
          <a:p>
            <a:pPr algn="ctr" marL="0" indent="0" lvl="0">
              <a:lnSpc>
                <a:spcPts val="5875"/>
              </a:lnSpc>
            </a:pPr>
            <a:r>
              <a:rPr lang="en-US" b="true" sz="4197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&amp; Data Quality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235872" y="4787265"/>
            <a:ext cx="4068790" cy="323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630"/>
              </a:lnSpc>
            </a:pPr>
            <a:r>
              <a:rPr lang="en-US" b="true" sz="1878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Age Group Segmentation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64998" y="5286402"/>
            <a:ext cx="4439664" cy="1203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452"/>
              </a:lnSpc>
            </a:pPr>
            <a:r>
              <a:rPr lang="en-US" sz="1751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Created an age_group column to segment customers by age bracket, enabling targeted demographic analysis across purchase behavior patterns.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235872" y="7360163"/>
            <a:ext cx="4068790" cy="323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630"/>
              </a:lnSpc>
            </a:pPr>
            <a:r>
              <a:rPr lang="en-US" b="true" sz="1878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Purchase Frequency Calculation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864998" y="7859301"/>
            <a:ext cx="4439664" cy="1203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452"/>
              </a:lnSpc>
            </a:pPr>
            <a:r>
              <a:rPr lang="en-US" sz="1751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Calculated purchase_frequency_days to reflect intervals between transactions, providing insight into customer return and buying cadence.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983339" y="3559465"/>
            <a:ext cx="4068790" cy="323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30"/>
              </a:lnSpc>
            </a:pPr>
            <a:r>
              <a:rPr lang="en-US" b="true" sz="1878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 Consistency Check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983339" y="4058602"/>
            <a:ext cx="4439664" cy="1203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52"/>
              </a:lnSpc>
            </a:pPr>
            <a:r>
              <a:rPr lang="en-US" sz="1751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Identified promo_code_used as redundant with discount_applied and dropped the column to streamline the dataset and avoid multicollinearity.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983339" y="6132364"/>
            <a:ext cx="4068790" cy="3237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30"/>
              </a:lnSpc>
            </a:pPr>
            <a:r>
              <a:rPr lang="en-US" b="true" sz="1878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PostgreSQL Integration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983339" y="6631501"/>
            <a:ext cx="4439664" cy="1203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52"/>
              </a:lnSpc>
            </a:pPr>
            <a:r>
              <a:rPr lang="en-US" sz="1751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Connected the fully cleaned and engineered dataset to a PostgreSQL database, enabling structured SQL business queries and downstream analysis.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02003" y="3784750"/>
            <a:ext cx="3460617" cy="4986977"/>
            <a:chOff x="0" y="0"/>
            <a:chExt cx="1038937" cy="149717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38937" cy="1497176"/>
            </a:xfrm>
            <a:custGeom>
              <a:avLst/>
              <a:gdLst/>
              <a:ahLst/>
              <a:cxnLst/>
              <a:rect r="r" b="b" t="t" l="l"/>
              <a:pathLst>
                <a:path h="1497176" w="1038937">
                  <a:moveTo>
                    <a:pt x="0" y="0"/>
                  </a:moveTo>
                  <a:lnTo>
                    <a:pt x="1038937" y="0"/>
                  </a:lnTo>
                  <a:lnTo>
                    <a:pt x="1038937" y="1497176"/>
                  </a:lnTo>
                  <a:lnTo>
                    <a:pt x="0" y="1497176"/>
                  </a:lnTo>
                  <a:close/>
                </a:path>
              </a:pathLst>
            </a:custGeom>
            <a:solidFill>
              <a:srgbClr val="AED58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38937" cy="1535276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730816" y="4013837"/>
            <a:ext cx="3460617" cy="4528803"/>
            <a:chOff x="0" y="0"/>
            <a:chExt cx="1038937" cy="13596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38937" cy="1359625"/>
            </a:xfrm>
            <a:custGeom>
              <a:avLst/>
              <a:gdLst/>
              <a:ahLst/>
              <a:cxnLst/>
              <a:rect r="r" b="b" t="t" l="l"/>
              <a:pathLst>
                <a:path h="1359625" w="1038937">
                  <a:moveTo>
                    <a:pt x="0" y="0"/>
                  </a:moveTo>
                  <a:lnTo>
                    <a:pt x="1038937" y="0"/>
                  </a:lnTo>
                  <a:lnTo>
                    <a:pt x="1038937" y="1359625"/>
                  </a:lnTo>
                  <a:lnTo>
                    <a:pt x="0" y="1359625"/>
                  </a:lnTo>
                  <a:close/>
                </a:path>
              </a:pathLst>
            </a:custGeom>
            <a:solidFill>
              <a:srgbClr val="689F3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038937" cy="1397725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549285" y="3784750"/>
            <a:ext cx="3460617" cy="4986977"/>
            <a:chOff x="0" y="0"/>
            <a:chExt cx="1038937" cy="149717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38937" cy="1497176"/>
            </a:xfrm>
            <a:custGeom>
              <a:avLst/>
              <a:gdLst/>
              <a:ahLst/>
              <a:cxnLst/>
              <a:rect r="r" b="b" t="t" l="l"/>
              <a:pathLst>
                <a:path h="1497176" w="1038937">
                  <a:moveTo>
                    <a:pt x="0" y="0"/>
                  </a:moveTo>
                  <a:lnTo>
                    <a:pt x="1038937" y="0"/>
                  </a:lnTo>
                  <a:lnTo>
                    <a:pt x="1038937" y="1497176"/>
                  </a:lnTo>
                  <a:lnTo>
                    <a:pt x="0" y="1497176"/>
                  </a:lnTo>
                  <a:close/>
                </a:path>
              </a:pathLst>
            </a:custGeom>
            <a:solidFill>
              <a:srgbClr val="DCEDC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038937" cy="1535276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278098" y="4013837"/>
            <a:ext cx="3460617" cy="4528803"/>
            <a:chOff x="0" y="0"/>
            <a:chExt cx="1038937" cy="135962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38937" cy="1359625"/>
            </a:xfrm>
            <a:custGeom>
              <a:avLst/>
              <a:gdLst/>
              <a:ahLst/>
              <a:cxnLst/>
              <a:rect r="r" b="b" t="t" l="l"/>
              <a:pathLst>
                <a:path h="1359625" w="1038937">
                  <a:moveTo>
                    <a:pt x="0" y="0"/>
                  </a:moveTo>
                  <a:lnTo>
                    <a:pt x="1038937" y="0"/>
                  </a:lnTo>
                  <a:lnTo>
                    <a:pt x="1038937" y="1359625"/>
                  </a:lnTo>
                  <a:lnTo>
                    <a:pt x="0" y="1359625"/>
                  </a:lnTo>
                  <a:close/>
                </a:path>
              </a:pathLst>
            </a:custGeom>
            <a:solidFill>
              <a:srgbClr val="AED581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038937" cy="1397725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100240" y="3784750"/>
            <a:ext cx="3460617" cy="4986977"/>
            <a:chOff x="0" y="0"/>
            <a:chExt cx="1038937" cy="149717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38937" cy="1497176"/>
            </a:xfrm>
            <a:custGeom>
              <a:avLst/>
              <a:gdLst/>
              <a:ahLst/>
              <a:cxnLst/>
              <a:rect r="r" b="b" t="t" l="l"/>
              <a:pathLst>
                <a:path h="1497176" w="1038937">
                  <a:moveTo>
                    <a:pt x="0" y="0"/>
                  </a:moveTo>
                  <a:lnTo>
                    <a:pt x="1038937" y="0"/>
                  </a:lnTo>
                  <a:lnTo>
                    <a:pt x="1038937" y="1497176"/>
                  </a:lnTo>
                  <a:lnTo>
                    <a:pt x="0" y="1497176"/>
                  </a:lnTo>
                  <a:close/>
                </a:path>
              </a:pathLst>
            </a:custGeom>
            <a:solidFill>
              <a:srgbClr val="AED581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038937" cy="1535276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829052" y="4013837"/>
            <a:ext cx="3460617" cy="4528803"/>
            <a:chOff x="0" y="0"/>
            <a:chExt cx="1038937" cy="135962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38937" cy="1359625"/>
            </a:xfrm>
            <a:custGeom>
              <a:avLst/>
              <a:gdLst/>
              <a:ahLst/>
              <a:cxnLst/>
              <a:rect r="r" b="b" t="t" l="l"/>
              <a:pathLst>
                <a:path h="1359625" w="1038937">
                  <a:moveTo>
                    <a:pt x="0" y="0"/>
                  </a:moveTo>
                  <a:lnTo>
                    <a:pt x="1038937" y="0"/>
                  </a:lnTo>
                  <a:lnTo>
                    <a:pt x="1038937" y="1359625"/>
                  </a:lnTo>
                  <a:lnTo>
                    <a:pt x="0" y="1359625"/>
                  </a:lnTo>
                  <a:close/>
                </a:path>
              </a:pathLst>
            </a:custGeom>
            <a:solidFill>
              <a:srgbClr val="DCEDC8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038937" cy="1397725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6891642" y="8771727"/>
            <a:ext cx="2317321" cy="2237269"/>
          </a:xfrm>
          <a:custGeom>
            <a:avLst/>
            <a:gdLst/>
            <a:ahLst/>
            <a:cxnLst/>
            <a:rect r="r" b="b" t="t" l="l"/>
            <a:pathLst>
              <a:path h="2237269" w="2317321">
                <a:moveTo>
                  <a:pt x="0" y="0"/>
                </a:moveTo>
                <a:lnTo>
                  <a:pt x="2317322" y="0"/>
                </a:lnTo>
                <a:lnTo>
                  <a:pt x="2317322" y="2237269"/>
                </a:lnTo>
                <a:lnTo>
                  <a:pt x="0" y="22372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false" rot="0">
            <a:off x="-1936959" y="-1555427"/>
            <a:ext cx="4310743" cy="4114800"/>
          </a:xfrm>
          <a:custGeom>
            <a:avLst/>
            <a:gdLst/>
            <a:ahLst/>
            <a:cxnLst/>
            <a:rect r="r" b="b" t="t" l="l"/>
            <a:pathLst>
              <a:path h="4114800" w="4310743">
                <a:moveTo>
                  <a:pt x="4310743" y="0"/>
                </a:moveTo>
                <a:lnTo>
                  <a:pt x="0" y="0"/>
                </a:lnTo>
                <a:lnTo>
                  <a:pt x="0" y="4114800"/>
                </a:lnTo>
                <a:lnTo>
                  <a:pt x="4310743" y="4114800"/>
                </a:lnTo>
                <a:lnTo>
                  <a:pt x="431074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4079561" y="4488197"/>
            <a:ext cx="650407" cy="656149"/>
          </a:xfrm>
          <a:custGeom>
            <a:avLst/>
            <a:gdLst/>
            <a:ahLst/>
            <a:cxnLst/>
            <a:rect r="r" b="b" t="t" l="l"/>
            <a:pathLst>
              <a:path h="656149" w="650407">
                <a:moveTo>
                  <a:pt x="0" y="0"/>
                </a:moveTo>
                <a:lnTo>
                  <a:pt x="650408" y="0"/>
                </a:lnTo>
                <a:lnTo>
                  <a:pt x="650408" y="656148"/>
                </a:lnTo>
                <a:lnTo>
                  <a:pt x="0" y="6561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8676867" y="4460456"/>
            <a:ext cx="648432" cy="652090"/>
          </a:xfrm>
          <a:custGeom>
            <a:avLst/>
            <a:gdLst/>
            <a:ahLst/>
            <a:cxnLst/>
            <a:rect r="r" b="b" t="t" l="l"/>
            <a:pathLst>
              <a:path h="652090" w="648432">
                <a:moveTo>
                  <a:pt x="0" y="0"/>
                </a:moveTo>
                <a:lnTo>
                  <a:pt x="648432" y="0"/>
                </a:lnTo>
                <a:lnTo>
                  <a:pt x="648432" y="652090"/>
                </a:lnTo>
                <a:lnTo>
                  <a:pt x="0" y="65209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3223035" y="4512896"/>
            <a:ext cx="627012" cy="648913"/>
          </a:xfrm>
          <a:custGeom>
            <a:avLst/>
            <a:gdLst/>
            <a:ahLst/>
            <a:cxnLst/>
            <a:rect r="r" b="b" t="t" l="l"/>
            <a:pathLst>
              <a:path h="648913" w="627012">
                <a:moveTo>
                  <a:pt x="0" y="0"/>
                </a:moveTo>
                <a:lnTo>
                  <a:pt x="627012" y="0"/>
                </a:lnTo>
                <a:lnTo>
                  <a:pt x="627012" y="648913"/>
                </a:lnTo>
                <a:lnTo>
                  <a:pt x="0" y="64891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5883590" y="1251932"/>
            <a:ext cx="6519544" cy="1997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383"/>
              </a:lnSpc>
            </a:pPr>
            <a:r>
              <a:rPr lang="en-US" b="true" sz="3845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SQL Business Analysis</a:t>
            </a:r>
          </a:p>
          <a:p>
            <a:pPr algn="ctr" marL="0" indent="0" lvl="0">
              <a:lnSpc>
                <a:spcPts val="5383"/>
              </a:lnSpc>
            </a:pPr>
            <a:r>
              <a:rPr lang="en-US" b="true" sz="3845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Revenue &amp; Customer Segmentation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964540" y="5390546"/>
            <a:ext cx="2962913" cy="356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7"/>
              </a:lnSpc>
            </a:pPr>
            <a:r>
              <a:rPr lang="en-US" b="true" sz="2098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Revenue by Gender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103595" y="6267859"/>
            <a:ext cx="2684802" cy="1564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18"/>
              </a:lnSpc>
            </a:pPr>
            <a:r>
              <a:rPr lang="en-US" sz="1798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Female: $75,191</a:t>
            </a:r>
          </a:p>
          <a:p>
            <a:pPr algn="ctr" marL="0" indent="0" lvl="0">
              <a:lnSpc>
                <a:spcPts val="2518"/>
              </a:lnSpc>
            </a:pPr>
            <a:r>
              <a:rPr lang="en-US" sz="1798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Male: $157,890</a:t>
            </a:r>
          </a:p>
          <a:p>
            <a:pPr algn="ctr" marL="0" indent="0" lvl="0">
              <a:lnSpc>
                <a:spcPts val="2518"/>
              </a:lnSpc>
            </a:pPr>
            <a:r>
              <a:rPr lang="en-US" sz="1798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Total combined revenue across all transactions analyzed in the dataset.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519386" y="5390546"/>
            <a:ext cx="2962913" cy="356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7"/>
              </a:lnSpc>
            </a:pPr>
            <a:r>
              <a:rPr lang="en-US" b="true" sz="2098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Customer Segments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658441" y="6267859"/>
            <a:ext cx="2684802" cy="1564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18"/>
              </a:lnSpc>
            </a:pPr>
            <a:r>
              <a:rPr lang="en-US" sz="1798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Loyal: 3,116 customers</a:t>
            </a:r>
          </a:p>
          <a:p>
            <a:pPr algn="ctr" marL="0" indent="0" lvl="0">
              <a:lnSpc>
                <a:spcPts val="2518"/>
              </a:lnSpc>
            </a:pPr>
            <a:r>
              <a:rPr lang="en-US" sz="1798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Returning: 701 customers</a:t>
            </a:r>
          </a:p>
          <a:p>
            <a:pPr algn="ctr" marL="0" indent="0" lvl="0">
              <a:lnSpc>
                <a:spcPts val="2518"/>
              </a:lnSpc>
            </a:pPr>
            <a:r>
              <a:rPr lang="en-US" sz="1798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New: 83 customers</a:t>
            </a:r>
          </a:p>
          <a:p>
            <a:pPr algn="ctr" marL="0" indent="0" lvl="0">
              <a:lnSpc>
                <a:spcPts val="2518"/>
              </a:lnSpc>
            </a:pPr>
            <a:r>
              <a:rPr lang="en-US" sz="1798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Majority are loyal repeat buyers.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075943" y="5390546"/>
            <a:ext cx="2962913" cy="72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7"/>
              </a:lnSpc>
            </a:pPr>
            <a:r>
              <a:rPr lang="en-US" b="true" sz="2098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Subscriber vs Non-Subscriber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214999" y="6267859"/>
            <a:ext cx="2684802" cy="1878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18"/>
              </a:lnSpc>
            </a:pPr>
            <a:r>
              <a:rPr lang="en-US" sz="1798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Subscribers: 1,053 customers, $62,645 total ($59.49 avg)</a:t>
            </a:r>
          </a:p>
          <a:p>
            <a:pPr algn="ctr" marL="0" indent="0" lvl="0">
              <a:lnSpc>
                <a:spcPts val="2518"/>
              </a:lnSpc>
            </a:pPr>
            <a:r>
              <a:rPr lang="en-US" sz="1798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Non-Subscribers: 2,847 customers, $170,436 total ($59.87 avg)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5683418" y="7098335"/>
            <a:ext cx="900105" cy="787592"/>
            <a:chOff x="0" y="0"/>
            <a:chExt cx="812800" cy="711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689F3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27000" y="127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093834" y="3464297"/>
            <a:ext cx="3751737" cy="4992242"/>
            <a:chOff x="0" y="0"/>
            <a:chExt cx="988112" cy="131482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88112" cy="1314829"/>
            </a:xfrm>
            <a:custGeom>
              <a:avLst/>
              <a:gdLst/>
              <a:ahLst/>
              <a:cxnLst/>
              <a:rect r="r" b="b" t="t" l="l"/>
              <a:pathLst>
                <a:path h="1314829" w="988112">
                  <a:moveTo>
                    <a:pt x="30953" y="0"/>
                  </a:moveTo>
                  <a:lnTo>
                    <a:pt x="957158" y="0"/>
                  </a:lnTo>
                  <a:cubicBezTo>
                    <a:pt x="974254" y="0"/>
                    <a:pt x="988112" y="13858"/>
                    <a:pt x="988112" y="30953"/>
                  </a:cubicBezTo>
                  <a:lnTo>
                    <a:pt x="988112" y="1283876"/>
                  </a:lnTo>
                  <a:cubicBezTo>
                    <a:pt x="988112" y="1300971"/>
                    <a:pt x="974254" y="1314829"/>
                    <a:pt x="957158" y="1314829"/>
                  </a:cubicBezTo>
                  <a:lnTo>
                    <a:pt x="30953" y="1314829"/>
                  </a:lnTo>
                  <a:cubicBezTo>
                    <a:pt x="13858" y="1314829"/>
                    <a:pt x="0" y="1300971"/>
                    <a:pt x="0" y="1283876"/>
                  </a:cubicBezTo>
                  <a:lnTo>
                    <a:pt x="0" y="30953"/>
                  </a:lnTo>
                  <a:cubicBezTo>
                    <a:pt x="0" y="13858"/>
                    <a:pt x="13858" y="0"/>
                    <a:pt x="30953" y="0"/>
                  </a:cubicBezTo>
                  <a:close/>
                </a:path>
              </a:pathLst>
            </a:custGeom>
            <a:solidFill>
              <a:srgbClr val="689F3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988112" cy="13529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5400000">
            <a:off x="10855630" y="7098335"/>
            <a:ext cx="900105" cy="787592"/>
            <a:chOff x="0" y="0"/>
            <a:chExt cx="812800" cy="711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AED581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27000" y="12700"/>
              <a:ext cx="558800" cy="368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266046" y="3464297"/>
            <a:ext cx="3751737" cy="4992242"/>
            <a:chOff x="0" y="0"/>
            <a:chExt cx="988112" cy="131482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88112" cy="1314829"/>
            </a:xfrm>
            <a:custGeom>
              <a:avLst/>
              <a:gdLst/>
              <a:ahLst/>
              <a:cxnLst/>
              <a:rect r="r" b="b" t="t" l="l"/>
              <a:pathLst>
                <a:path h="1314829" w="988112">
                  <a:moveTo>
                    <a:pt x="30953" y="0"/>
                  </a:moveTo>
                  <a:lnTo>
                    <a:pt x="957158" y="0"/>
                  </a:lnTo>
                  <a:cubicBezTo>
                    <a:pt x="974254" y="0"/>
                    <a:pt x="988112" y="13858"/>
                    <a:pt x="988112" y="30953"/>
                  </a:cubicBezTo>
                  <a:lnTo>
                    <a:pt x="988112" y="1283876"/>
                  </a:lnTo>
                  <a:cubicBezTo>
                    <a:pt x="988112" y="1300971"/>
                    <a:pt x="974254" y="1314829"/>
                    <a:pt x="957158" y="1314829"/>
                  </a:cubicBezTo>
                  <a:lnTo>
                    <a:pt x="30953" y="1314829"/>
                  </a:lnTo>
                  <a:cubicBezTo>
                    <a:pt x="13858" y="1314829"/>
                    <a:pt x="0" y="1300971"/>
                    <a:pt x="0" y="1283876"/>
                  </a:cubicBezTo>
                  <a:lnTo>
                    <a:pt x="0" y="30953"/>
                  </a:lnTo>
                  <a:cubicBezTo>
                    <a:pt x="0" y="13858"/>
                    <a:pt x="13858" y="0"/>
                    <a:pt x="30953" y="0"/>
                  </a:cubicBezTo>
                  <a:close/>
                </a:path>
              </a:pathLst>
            </a:custGeom>
            <a:solidFill>
              <a:srgbClr val="AED581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988112" cy="13529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442429" y="3464297"/>
            <a:ext cx="3751737" cy="4992242"/>
            <a:chOff x="0" y="0"/>
            <a:chExt cx="988112" cy="131482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88112" cy="1314829"/>
            </a:xfrm>
            <a:custGeom>
              <a:avLst/>
              <a:gdLst/>
              <a:ahLst/>
              <a:cxnLst/>
              <a:rect r="r" b="b" t="t" l="l"/>
              <a:pathLst>
                <a:path h="1314829" w="988112">
                  <a:moveTo>
                    <a:pt x="30953" y="0"/>
                  </a:moveTo>
                  <a:lnTo>
                    <a:pt x="957158" y="0"/>
                  </a:lnTo>
                  <a:cubicBezTo>
                    <a:pt x="974254" y="0"/>
                    <a:pt x="988112" y="13858"/>
                    <a:pt x="988112" y="30953"/>
                  </a:cubicBezTo>
                  <a:lnTo>
                    <a:pt x="988112" y="1283876"/>
                  </a:lnTo>
                  <a:cubicBezTo>
                    <a:pt x="988112" y="1300971"/>
                    <a:pt x="974254" y="1314829"/>
                    <a:pt x="957158" y="1314829"/>
                  </a:cubicBezTo>
                  <a:lnTo>
                    <a:pt x="30953" y="1314829"/>
                  </a:lnTo>
                  <a:cubicBezTo>
                    <a:pt x="13858" y="1314829"/>
                    <a:pt x="0" y="1300971"/>
                    <a:pt x="0" y="1283876"/>
                  </a:cubicBezTo>
                  <a:lnTo>
                    <a:pt x="0" y="30953"/>
                  </a:lnTo>
                  <a:cubicBezTo>
                    <a:pt x="0" y="13858"/>
                    <a:pt x="13858" y="0"/>
                    <a:pt x="30953" y="0"/>
                  </a:cubicBezTo>
                  <a:close/>
                </a:path>
              </a:pathLst>
            </a:custGeom>
            <a:solidFill>
              <a:srgbClr val="DCEDC8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988112" cy="13529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-843960" y="8717914"/>
            <a:ext cx="2448613" cy="2159231"/>
          </a:xfrm>
          <a:custGeom>
            <a:avLst/>
            <a:gdLst/>
            <a:ahLst/>
            <a:cxnLst/>
            <a:rect r="r" b="b" t="t" l="l"/>
            <a:pathLst>
              <a:path h="2159231" w="2448613">
                <a:moveTo>
                  <a:pt x="0" y="0"/>
                </a:moveTo>
                <a:lnTo>
                  <a:pt x="2448612" y="0"/>
                </a:lnTo>
                <a:lnTo>
                  <a:pt x="2448612" y="2159231"/>
                </a:lnTo>
                <a:lnTo>
                  <a:pt x="0" y="21592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true" rot="0">
            <a:off x="16528583" y="-809906"/>
            <a:ext cx="2147582" cy="2128513"/>
          </a:xfrm>
          <a:custGeom>
            <a:avLst/>
            <a:gdLst/>
            <a:ahLst/>
            <a:cxnLst/>
            <a:rect r="r" b="b" t="t" l="l"/>
            <a:pathLst>
              <a:path h="2128513" w="2147582">
                <a:moveTo>
                  <a:pt x="0" y="2128513"/>
                </a:moveTo>
                <a:lnTo>
                  <a:pt x="2147582" y="2128513"/>
                </a:lnTo>
                <a:lnTo>
                  <a:pt x="2147582" y="0"/>
                </a:lnTo>
                <a:lnTo>
                  <a:pt x="0" y="0"/>
                </a:lnTo>
                <a:lnTo>
                  <a:pt x="0" y="2128513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326524" y="3828481"/>
            <a:ext cx="5022210" cy="897720"/>
          </a:xfrm>
          <a:custGeom>
            <a:avLst/>
            <a:gdLst/>
            <a:ahLst/>
            <a:cxnLst/>
            <a:rect r="r" b="b" t="t" l="l"/>
            <a:pathLst>
              <a:path h="897720" w="5022210">
                <a:moveTo>
                  <a:pt x="0" y="0"/>
                </a:moveTo>
                <a:lnTo>
                  <a:pt x="5022209" y="0"/>
                </a:lnTo>
                <a:lnTo>
                  <a:pt x="5022209" y="897720"/>
                </a:lnTo>
                <a:lnTo>
                  <a:pt x="0" y="8977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8757542" y="3746930"/>
            <a:ext cx="765591" cy="1131279"/>
          </a:xfrm>
          <a:custGeom>
            <a:avLst/>
            <a:gdLst/>
            <a:ahLst/>
            <a:cxnLst/>
            <a:rect r="r" b="b" t="t" l="l"/>
            <a:pathLst>
              <a:path h="1131279" w="765591">
                <a:moveTo>
                  <a:pt x="0" y="0"/>
                </a:moveTo>
                <a:lnTo>
                  <a:pt x="765591" y="0"/>
                </a:lnTo>
                <a:lnTo>
                  <a:pt x="765591" y="1131279"/>
                </a:lnTo>
                <a:lnTo>
                  <a:pt x="0" y="113127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3530380" y="3567866"/>
            <a:ext cx="1562227" cy="1535292"/>
          </a:xfrm>
          <a:custGeom>
            <a:avLst/>
            <a:gdLst/>
            <a:ahLst/>
            <a:cxnLst/>
            <a:rect r="r" b="b" t="t" l="l"/>
            <a:pathLst>
              <a:path h="1535292" w="1562227">
                <a:moveTo>
                  <a:pt x="0" y="0"/>
                </a:moveTo>
                <a:lnTo>
                  <a:pt x="1562227" y="0"/>
                </a:lnTo>
                <a:lnTo>
                  <a:pt x="1562227" y="1535292"/>
                </a:lnTo>
                <a:lnTo>
                  <a:pt x="0" y="153529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5883590" y="1242407"/>
            <a:ext cx="6519544" cy="1455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75"/>
              </a:lnSpc>
            </a:pPr>
            <a:r>
              <a:rPr lang="en-US" b="true" sz="4197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SQL Analysis – Product &amp; Purchase Insights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488246" y="5254393"/>
            <a:ext cx="2962913" cy="72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7"/>
              </a:lnSpc>
            </a:pPr>
            <a:r>
              <a:rPr lang="en-US" b="true" sz="2098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Top 5 Products by Rating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627302" y="6131706"/>
            <a:ext cx="2684802" cy="1564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18"/>
              </a:lnSpc>
            </a:pPr>
            <a:r>
              <a:rPr lang="en-US" sz="1798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Gloves (3.86), Sandals (3.84), Boots (3.82), Hat (3.80), Skirt (3.78) — highest-rated items across all categories.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516201" y="5254393"/>
            <a:ext cx="3251428" cy="72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7"/>
              </a:lnSpc>
            </a:pPr>
            <a:r>
              <a:rPr lang="en-US" b="true" sz="2098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Discount-Dependent Products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799514" y="6131706"/>
            <a:ext cx="2684802" cy="15640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18"/>
              </a:lnSpc>
            </a:pPr>
            <a:r>
              <a:rPr lang="en-US" sz="1798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Hat (50%), Sneakers (49.66%), Coat (49.07%), Sweater (48.17%), Pants (47.37%) — nearly half of sales rely on discounts.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836840" y="5254393"/>
            <a:ext cx="2962913" cy="72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7"/>
              </a:lnSpc>
            </a:pPr>
            <a:r>
              <a:rPr lang="en-US" b="true" sz="2098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Repeat Buyers &amp; Subscriptions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975896" y="6131706"/>
            <a:ext cx="2684802" cy="1878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18"/>
              </a:lnSpc>
            </a:pPr>
            <a:r>
              <a:rPr lang="en-US" sz="1798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Non-subscribers with repeat purchases: 2,518. Subscribers with repeat purchases: 958. Non-subscribers dominate repeat buying behavior.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30816" y="3257431"/>
            <a:ext cx="3460617" cy="1257799"/>
            <a:chOff x="0" y="0"/>
            <a:chExt cx="1038937" cy="37761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38937" cy="377613"/>
            </a:xfrm>
            <a:custGeom>
              <a:avLst/>
              <a:gdLst/>
              <a:ahLst/>
              <a:cxnLst/>
              <a:rect r="r" b="b" t="t" l="l"/>
              <a:pathLst>
                <a:path h="377613" w="1038937">
                  <a:moveTo>
                    <a:pt x="0" y="0"/>
                  </a:moveTo>
                  <a:lnTo>
                    <a:pt x="1038937" y="0"/>
                  </a:lnTo>
                  <a:lnTo>
                    <a:pt x="1038937" y="377613"/>
                  </a:lnTo>
                  <a:lnTo>
                    <a:pt x="0" y="377613"/>
                  </a:lnTo>
                  <a:close/>
                </a:path>
              </a:pathLst>
            </a:custGeom>
            <a:solidFill>
              <a:srgbClr val="AED58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38937" cy="415713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730816" y="4515230"/>
            <a:ext cx="3460617" cy="4256497"/>
            <a:chOff x="0" y="0"/>
            <a:chExt cx="1038937" cy="127787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38937" cy="1277874"/>
            </a:xfrm>
            <a:custGeom>
              <a:avLst/>
              <a:gdLst/>
              <a:ahLst/>
              <a:cxnLst/>
              <a:rect r="r" b="b" t="t" l="l"/>
              <a:pathLst>
                <a:path h="1277874" w="1038937">
                  <a:moveTo>
                    <a:pt x="0" y="0"/>
                  </a:moveTo>
                  <a:lnTo>
                    <a:pt x="1038937" y="0"/>
                  </a:lnTo>
                  <a:lnTo>
                    <a:pt x="1038937" y="1277874"/>
                  </a:lnTo>
                  <a:lnTo>
                    <a:pt x="0" y="1277874"/>
                  </a:lnTo>
                  <a:close/>
                </a:path>
              </a:pathLst>
            </a:custGeom>
            <a:solidFill>
              <a:srgbClr val="689F3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038937" cy="1315974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413691" y="3257431"/>
            <a:ext cx="3460617" cy="1257799"/>
            <a:chOff x="0" y="0"/>
            <a:chExt cx="1038937" cy="37761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38937" cy="377613"/>
            </a:xfrm>
            <a:custGeom>
              <a:avLst/>
              <a:gdLst/>
              <a:ahLst/>
              <a:cxnLst/>
              <a:rect r="r" b="b" t="t" l="l"/>
              <a:pathLst>
                <a:path h="377613" w="1038937">
                  <a:moveTo>
                    <a:pt x="0" y="0"/>
                  </a:moveTo>
                  <a:lnTo>
                    <a:pt x="1038937" y="0"/>
                  </a:lnTo>
                  <a:lnTo>
                    <a:pt x="1038937" y="377613"/>
                  </a:lnTo>
                  <a:lnTo>
                    <a:pt x="0" y="377613"/>
                  </a:lnTo>
                  <a:close/>
                </a:path>
              </a:pathLst>
            </a:custGeom>
            <a:solidFill>
              <a:srgbClr val="689F3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038937" cy="415713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413691" y="4515230"/>
            <a:ext cx="3460617" cy="4256497"/>
            <a:chOff x="0" y="0"/>
            <a:chExt cx="1038937" cy="127787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38937" cy="1277874"/>
            </a:xfrm>
            <a:custGeom>
              <a:avLst/>
              <a:gdLst/>
              <a:ahLst/>
              <a:cxnLst/>
              <a:rect r="r" b="b" t="t" l="l"/>
              <a:pathLst>
                <a:path h="1277874" w="1038937">
                  <a:moveTo>
                    <a:pt x="0" y="0"/>
                  </a:moveTo>
                  <a:lnTo>
                    <a:pt x="1038937" y="0"/>
                  </a:lnTo>
                  <a:lnTo>
                    <a:pt x="1038937" y="1277874"/>
                  </a:lnTo>
                  <a:lnTo>
                    <a:pt x="0" y="1277874"/>
                  </a:lnTo>
                  <a:close/>
                </a:path>
              </a:pathLst>
            </a:custGeom>
            <a:solidFill>
              <a:srgbClr val="AED581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038937" cy="1315974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093509" y="3257431"/>
            <a:ext cx="3460617" cy="1257799"/>
            <a:chOff x="0" y="0"/>
            <a:chExt cx="1038937" cy="37761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38937" cy="377613"/>
            </a:xfrm>
            <a:custGeom>
              <a:avLst/>
              <a:gdLst/>
              <a:ahLst/>
              <a:cxnLst/>
              <a:rect r="r" b="b" t="t" l="l"/>
              <a:pathLst>
                <a:path h="377613" w="1038937">
                  <a:moveTo>
                    <a:pt x="0" y="0"/>
                  </a:moveTo>
                  <a:lnTo>
                    <a:pt x="1038937" y="0"/>
                  </a:lnTo>
                  <a:lnTo>
                    <a:pt x="1038937" y="377613"/>
                  </a:lnTo>
                  <a:lnTo>
                    <a:pt x="0" y="377613"/>
                  </a:lnTo>
                  <a:close/>
                </a:path>
              </a:pathLst>
            </a:custGeom>
            <a:solidFill>
              <a:srgbClr val="AED581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038937" cy="415713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093509" y="4515230"/>
            <a:ext cx="3460617" cy="4256497"/>
            <a:chOff x="0" y="0"/>
            <a:chExt cx="1038937" cy="127787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38937" cy="1277874"/>
            </a:xfrm>
            <a:custGeom>
              <a:avLst/>
              <a:gdLst/>
              <a:ahLst/>
              <a:cxnLst/>
              <a:rect r="r" b="b" t="t" l="l"/>
              <a:pathLst>
                <a:path h="1277874" w="1038937">
                  <a:moveTo>
                    <a:pt x="0" y="0"/>
                  </a:moveTo>
                  <a:lnTo>
                    <a:pt x="1038937" y="0"/>
                  </a:lnTo>
                  <a:lnTo>
                    <a:pt x="1038937" y="1277874"/>
                  </a:lnTo>
                  <a:lnTo>
                    <a:pt x="0" y="1277874"/>
                  </a:lnTo>
                  <a:close/>
                </a:path>
              </a:pathLst>
            </a:custGeom>
            <a:solidFill>
              <a:srgbClr val="DCEDC8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038937" cy="1315974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3923167" y="5029422"/>
            <a:ext cx="946202" cy="962030"/>
          </a:xfrm>
          <a:custGeom>
            <a:avLst/>
            <a:gdLst/>
            <a:ahLst/>
            <a:cxnLst/>
            <a:rect r="r" b="b" t="t" l="l"/>
            <a:pathLst>
              <a:path h="962030" w="946202">
                <a:moveTo>
                  <a:pt x="0" y="0"/>
                </a:moveTo>
                <a:lnTo>
                  <a:pt x="946202" y="0"/>
                </a:lnTo>
                <a:lnTo>
                  <a:pt x="946202" y="962030"/>
                </a:lnTo>
                <a:lnTo>
                  <a:pt x="0" y="9620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8807472" y="4956497"/>
            <a:ext cx="852213" cy="971183"/>
          </a:xfrm>
          <a:custGeom>
            <a:avLst/>
            <a:gdLst/>
            <a:ahLst/>
            <a:cxnLst/>
            <a:rect r="r" b="b" t="t" l="l"/>
            <a:pathLst>
              <a:path h="971183" w="852213">
                <a:moveTo>
                  <a:pt x="0" y="0"/>
                </a:moveTo>
                <a:lnTo>
                  <a:pt x="852213" y="0"/>
                </a:lnTo>
                <a:lnTo>
                  <a:pt x="852213" y="971183"/>
                </a:lnTo>
                <a:lnTo>
                  <a:pt x="0" y="9711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3216280" y="4973863"/>
            <a:ext cx="1131225" cy="957604"/>
          </a:xfrm>
          <a:custGeom>
            <a:avLst/>
            <a:gdLst/>
            <a:ahLst/>
            <a:cxnLst/>
            <a:rect r="r" b="b" t="t" l="l"/>
            <a:pathLst>
              <a:path h="957604" w="1131225">
                <a:moveTo>
                  <a:pt x="0" y="0"/>
                </a:moveTo>
                <a:lnTo>
                  <a:pt x="1131225" y="0"/>
                </a:lnTo>
                <a:lnTo>
                  <a:pt x="1131225" y="957604"/>
                </a:lnTo>
                <a:lnTo>
                  <a:pt x="0" y="9576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5883590" y="1251932"/>
            <a:ext cx="6519544" cy="1304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291"/>
              </a:lnSpc>
            </a:pPr>
            <a:r>
              <a:rPr lang="en-US" b="true" sz="3779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SQL Business Analysis</a:t>
            </a:r>
          </a:p>
          <a:p>
            <a:pPr algn="ctr" marL="0" indent="0" lvl="0">
              <a:lnSpc>
                <a:spcPts val="5291"/>
              </a:lnSpc>
            </a:pPr>
            <a:r>
              <a:rPr lang="en-US" b="true" sz="3779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Sales Patterns &amp; Shipping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979668" y="3503426"/>
            <a:ext cx="2962913" cy="72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7"/>
              </a:lnSpc>
            </a:pPr>
            <a:r>
              <a:rPr lang="en-US" b="true" sz="2098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Revenue by Age Group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118723" y="6478751"/>
            <a:ext cx="2684802" cy="1056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62"/>
              </a:lnSpc>
            </a:pPr>
            <a:r>
              <a:rPr lang="en-US" sz="1544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Young Adult: $62,143</a:t>
            </a:r>
          </a:p>
          <a:p>
            <a:pPr algn="ctr" marL="0" indent="0" lvl="0">
              <a:lnSpc>
                <a:spcPts val="2162"/>
              </a:lnSpc>
            </a:pPr>
            <a:r>
              <a:rPr lang="en-US" sz="1544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Middle-aged: $59,197</a:t>
            </a:r>
          </a:p>
          <a:p>
            <a:pPr algn="ctr" marL="0" indent="0" lvl="0">
              <a:lnSpc>
                <a:spcPts val="2162"/>
              </a:lnSpc>
            </a:pPr>
            <a:r>
              <a:rPr lang="en-US" sz="1544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Adult: $55,978</a:t>
            </a:r>
          </a:p>
          <a:p>
            <a:pPr algn="ctr" marL="0" indent="0" lvl="0">
              <a:lnSpc>
                <a:spcPts val="2162"/>
              </a:lnSpc>
            </a:pPr>
            <a:r>
              <a:rPr lang="en-US" sz="1544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Senior: $55,763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662543" y="3503426"/>
            <a:ext cx="2962913" cy="72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7"/>
              </a:lnSpc>
            </a:pPr>
            <a:r>
              <a:rPr lang="en-US" b="true" sz="2098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Shipping Type Revenue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342361" y="3503426"/>
            <a:ext cx="2962913" cy="356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7"/>
              </a:lnSpc>
            </a:pPr>
            <a:r>
              <a:rPr lang="en-US" b="true" sz="2098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Top Revenue Insight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801599" y="6478751"/>
            <a:ext cx="2684802" cy="1322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62"/>
              </a:lnSpc>
            </a:pPr>
            <a:r>
              <a:rPr lang="en-US" sz="1544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Standard Shipping avg: $58.46</a:t>
            </a:r>
          </a:p>
          <a:p>
            <a:pPr algn="ctr" marL="0" indent="0" lvl="0">
              <a:lnSpc>
                <a:spcPts val="2162"/>
              </a:lnSpc>
            </a:pPr>
            <a:r>
              <a:rPr lang="en-US" sz="1544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Express Shipping avg: $60.48</a:t>
            </a:r>
          </a:p>
          <a:p>
            <a:pPr algn="ctr" marL="0" indent="0" lvl="0">
              <a:lnSpc>
                <a:spcPts val="2162"/>
              </a:lnSpc>
            </a:pPr>
            <a:r>
              <a:rPr lang="en-US" sz="1544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Express generates higher revenue per transaction.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481416" y="6478751"/>
            <a:ext cx="2684802" cy="1589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62"/>
              </a:lnSpc>
            </a:pPr>
            <a:r>
              <a:rPr lang="en-US" sz="1544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Young Adults lead all age groups in total revenue, contributing $62,143. Express shipping customers spend more on average than standard shipping customers.</a:t>
            </a:r>
          </a:p>
        </p:txBody>
      </p:sp>
      <p:sp>
        <p:nvSpPr>
          <p:cNvPr name="Freeform 30" id="30"/>
          <p:cNvSpPr/>
          <p:nvPr/>
        </p:nvSpPr>
        <p:spPr>
          <a:xfrm flipH="false" flipV="true" rot="0">
            <a:off x="16397529" y="8347556"/>
            <a:ext cx="3230536" cy="2638920"/>
          </a:xfrm>
          <a:custGeom>
            <a:avLst/>
            <a:gdLst/>
            <a:ahLst/>
            <a:cxnLst/>
            <a:rect r="r" b="b" t="t" l="l"/>
            <a:pathLst>
              <a:path h="2638920" w="3230536">
                <a:moveTo>
                  <a:pt x="0" y="2638920"/>
                </a:moveTo>
                <a:lnTo>
                  <a:pt x="3230536" y="2638920"/>
                </a:lnTo>
                <a:lnTo>
                  <a:pt x="3230536" y="0"/>
                </a:lnTo>
                <a:lnTo>
                  <a:pt x="0" y="0"/>
                </a:lnTo>
                <a:lnTo>
                  <a:pt x="0" y="263892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-543230" y="-408495"/>
            <a:ext cx="2283441" cy="2620955"/>
          </a:xfrm>
          <a:custGeom>
            <a:avLst/>
            <a:gdLst/>
            <a:ahLst/>
            <a:cxnLst/>
            <a:rect r="r" b="b" t="t" l="l"/>
            <a:pathLst>
              <a:path h="2620955" w="2283441">
                <a:moveTo>
                  <a:pt x="0" y="0"/>
                </a:moveTo>
                <a:lnTo>
                  <a:pt x="2283442" y="0"/>
                </a:lnTo>
                <a:lnTo>
                  <a:pt x="2283442" y="2620955"/>
                </a:lnTo>
                <a:lnTo>
                  <a:pt x="0" y="262095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638447" y="3615578"/>
            <a:ext cx="3751737" cy="4659424"/>
            <a:chOff x="0" y="0"/>
            <a:chExt cx="988112" cy="12271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88112" cy="1227173"/>
            </a:xfrm>
            <a:custGeom>
              <a:avLst/>
              <a:gdLst/>
              <a:ahLst/>
              <a:cxnLst/>
              <a:rect r="r" b="b" t="t" l="l"/>
              <a:pathLst>
                <a:path h="1227173" w="988112">
                  <a:moveTo>
                    <a:pt x="30953" y="0"/>
                  </a:moveTo>
                  <a:lnTo>
                    <a:pt x="957158" y="0"/>
                  </a:lnTo>
                  <a:cubicBezTo>
                    <a:pt x="974254" y="0"/>
                    <a:pt x="988112" y="13858"/>
                    <a:pt x="988112" y="30953"/>
                  </a:cubicBezTo>
                  <a:lnTo>
                    <a:pt x="988112" y="1196220"/>
                  </a:lnTo>
                  <a:cubicBezTo>
                    <a:pt x="988112" y="1204429"/>
                    <a:pt x="984851" y="1212302"/>
                    <a:pt x="979046" y="1218107"/>
                  </a:cubicBezTo>
                  <a:cubicBezTo>
                    <a:pt x="973241" y="1223912"/>
                    <a:pt x="965368" y="1227173"/>
                    <a:pt x="957158" y="1227173"/>
                  </a:cubicBezTo>
                  <a:lnTo>
                    <a:pt x="30953" y="1227173"/>
                  </a:lnTo>
                  <a:cubicBezTo>
                    <a:pt x="13858" y="1227173"/>
                    <a:pt x="0" y="1213315"/>
                    <a:pt x="0" y="1196220"/>
                  </a:cubicBezTo>
                  <a:lnTo>
                    <a:pt x="0" y="30953"/>
                  </a:lnTo>
                  <a:cubicBezTo>
                    <a:pt x="0" y="13858"/>
                    <a:pt x="13858" y="0"/>
                    <a:pt x="30953" y="0"/>
                  </a:cubicBezTo>
                  <a:close/>
                </a:path>
              </a:pathLst>
            </a:custGeom>
            <a:solidFill>
              <a:srgbClr val="AED581"/>
            </a:solidFill>
            <a:ln w="47625" cap="sq">
              <a:solidFill>
                <a:srgbClr val="689F38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88112" cy="1265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925881" y="8116175"/>
            <a:ext cx="3176869" cy="317655"/>
            <a:chOff x="0" y="0"/>
            <a:chExt cx="836706" cy="8366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36706" cy="83662"/>
            </a:xfrm>
            <a:custGeom>
              <a:avLst/>
              <a:gdLst/>
              <a:ahLst/>
              <a:cxnLst/>
              <a:rect r="r" b="b" t="t" l="l"/>
              <a:pathLst>
                <a:path h="83662" w="836706">
                  <a:moveTo>
                    <a:pt x="36554" y="0"/>
                  </a:moveTo>
                  <a:lnTo>
                    <a:pt x="800152" y="0"/>
                  </a:lnTo>
                  <a:cubicBezTo>
                    <a:pt x="820340" y="0"/>
                    <a:pt x="836706" y="16366"/>
                    <a:pt x="836706" y="36554"/>
                  </a:cubicBezTo>
                  <a:lnTo>
                    <a:pt x="836706" y="47108"/>
                  </a:lnTo>
                  <a:cubicBezTo>
                    <a:pt x="836706" y="56803"/>
                    <a:pt x="832855" y="66100"/>
                    <a:pt x="826000" y="72956"/>
                  </a:cubicBezTo>
                  <a:cubicBezTo>
                    <a:pt x="819144" y="79811"/>
                    <a:pt x="809847" y="83662"/>
                    <a:pt x="800152" y="83662"/>
                  </a:cubicBezTo>
                  <a:lnTo>
                    <a:pt x="36554" y="83662"/>
                  </a:lnTo>
                  <a:cubicBezTo>
                    <a:pt x="26860" y="83662"/>
                    <a:pt x="17562" y="79811"/>
                    <a:pt x="10707" y="72956"/>
                  </a:cubicBezTo>
                  <a:cubicBezTo>
                    <a:pt x="3851" y="66100"/>
                    <a:pt x="0" y="56803"/>
                    <a:pt x="0" y="47108"/>
                  </a:cubicBezTo>
                  <a:lnTo>
                    <a:pt x="0" y="36554"/>
                  </a:lnTo>
                  <a:cubicBezTo>
                    <a:pt x="0" y="26860"/>
                    <a:pt x="3851" y="17562"/>
                    <a:pt x="10707" y="10707"/>
                  </a:cubicBezTo>
                  <a:cubicBezTo>
                    <a:pt x="17562" y="3851"/>
                    <a:pt x="26860" y="0"/>
                    <a:pt x="36554" y="0"/>
                  </a:cubicBezTo>
                  <a:close/>
                </a:path>
              </a:pathLst>
            </a:custGeom>
            <a:solidFill>
              <a:srgbClr val="689F3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836706" cy="1217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268131" y="3615578"/>
            <a:ext cx="3751737" cy="4659424"/>
            <a:chOff x="0" y="0"/>
            <a:chExt cx="988112" cy="122717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88112" cy="1227173"/>
            </a:xfrm>
            <a:custGeom>
              <a:avLst/>
              <a:gdLst/>
              <a:ahLst/>
              <a:cxnLst/>
              <a:rect r="r" b="b" t="t" l="l"/>
              <a:pathLst>
                <a:path h="1227173" w="988112">
                  <a:moveTo>
                    <a:pt x="30953" y="0"/>
                  </a:moveTo>
                  <a:lnTo>
                    <a:pt x="957158" y="0"/>
                  </a:lnTo>
                  <a:cubicBezTo>
                    <a:pt x="974254" y="0"/>
                    <a:pt x="988112" y="13858"/>
                    <a:pt x="988112" y="30953"/>
                  </a:cubicBezTo>
                  <a:lnTo>
                    <a:pt x="988112" y="1196220"/>
                  </a:lnTo>
                  <a:cubicBezTo>
                    <a:pt x="988112" y="1204429"/>
                    <a:pt x="984851" y="1212302"/>
                    <a:pt x="979046" y="1218107"/>
                  </a:cubicBezTo>
                  <a:cubicBezTo>
                    <a:pt x="973241" y="1223912"/>
                    <a:pt x="965368" y="1227173"/>
                    <a:pt x="957158" y="1227173"/>
                  </a:cubicBezTo>
                  <a:lnTo>
                    <a:pt x="30953" y="1227173"/>
                  </a:lnTo>
                  <a:cubicBezTo>
                    <a:pt x="13858" y="1227173"/>
                    <a:pt x="0" y="1213315"/>
                    <a:pt x="0" y="1196220"/>
                  </a:cubicBezTo>
                  <a:lnTo>
                    <a:pt x="0" y="30953"/>
                  </a:lnTo>
                  <a:cubicBezTo>
                    <a:pt x="0" y="13858"/>
                    <a:pt x="13858" y="0"/>
                    <a:pt x="30953" y="0"/>
                  </a:cubicBezTo>
                  <a:close/>
                </a:path>
              </a:pathLst>
            </a:custGeom>
            <a:solidFill>
              <a:srgbClr val="DCEDC8"/>
            </a:solidFill>
            <a:ln w="47625" cap="sq">
              <a:solidFill>
                <a:srgbClr val="AED581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988112" cy="1265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555566" y="8116175"/>
            <a:ext cx="3176869" cy="317655"/>
            <a:chOff x="0" y="0"/>
            <a:chExt cx="836706" cy="8366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36706" cy="83662"/>
            </a:xfrm>
            <a:custGeom>
              <a:avLst/>
              <a:gdLst/>
              <a:ahLst/>
              <a:cxnLst/>
              <a:rect r="r" b="b" t="t" l="l"/>
              <a:pathLst>
                <a:path h="83662" w="836706">
                  <a:moveTo>
                    <a:pt x="36554" y="0"/>
                  </a:moveTo>
                  <a:lnTo>
                    <a:pt x="800152" y="0"/>
                  </a:lnTo>
                  <a:cubicBezTo>
                    <a:pt x="820340" y="0"/>
                    <a:pt x="836706" y="16366"/>
                    <a:pt x="836706" y="36554"/>
                  </a:cubicBezTo>
                  <a:lnTo>
                    <a:pt x="836706" y="47108"/>
                  </a:lnTo>
                  <a:cubicBezTo>
                    <a:pt x="836706" y="56803"/>
                    <a:pt x="832855" y="66100"/>
                    <a:pt x="826000" y="72956"/>
                  </a:cubicBezTo>
                  <a:cubicBezTo>
                    <a:pt x="819144" y="79811"/>
                    <a:pt x="809847" y="83662"/>
                    <a:pt x="800152" y="83662"/>
                  </a:cubicBezTo>
                  <a:lnTo>
                    <a:pt x="36554" y="83662"/>
                  </a:lnTo>
                  <a:cubicBezTo>
                    <a:pt x="26860" y="83662"/>
                    <a:pt x="17562" y="79811"/>
                    <a:pt x="10707" y="72956"/>
                  </a:cubicBezTo>
                  <a:cubicBezTo>
                    <a:pt x="3851" y="66100"/>
                    <a:pt x="0" y="56803"/>
                    <a:pt x="0" y="47108"/>
                  </a:cubicBezTo>
                  <a:lnTo>
                    <a:pt x="0" y="36554"/>
                  </a:lnTo>
                  <a:cubicBezTo>
                    <a:pt x="0" y="26860"/>
                    <a:pt x="3851" y="17562"/>
                    <a:pt x="10707" y="10707"/>
                  </a:cubicBezTo>
                  <a:cubicBezTo>
                    <a:pt x="17562" y="3851"/>
                    <a:pt x="26860" y="0"/>
                    <a:pt x="36554" y="0"/>
                  </a:cubicBezTo>
                  <a:close/>
                </a:path>
              </a:pathLst>
            </a:custGeom>
            <a:solidFill>
              <a:srgbClr val="AED581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836706" cy="1217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896169" y="3615578"/>
            <a:ext cx="3751737" cy="4659424"/>
            <a:chOff x="0" y="0"/>
            <a:chExt cx="988112" cy="122717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88112" cy="1227173"/>
            </a:xfrm>
            <a:custGeom>
              <a:avLst/>
              <a:gdLst/>
              <a:ahLst/>
              <a:cxnLst/>
              <a:rect r="r" b="b" t="t" l="l"/>
              <a:pathLst>
                <a:path h="1227173" w="988112">
                  <a:moveTo>
                    <a:pt x="30953" y="0"/>
                  </a:moveTo>
                  <a:lnTo>
                    <a:pt x="957158" y="0"/>
                  </a:lnTo>
                  <a:cubicBezTo>
                    <a:pt x="974254" y="0"/>
                    <a:pt x="988112" y="13858"/>
                    <a:pt x="988112" y="30953"/>
                  </a:cubicBezTo>
                  <a:lnTo>
                    <a:pt x="988112" y="1196220"/>
                  </a:lnTo>
                  <a:cubicBezTo>
                    <a:pt x="988112" y="1204429"/>
                    <a:pt x="984851" y="1212302"/>
                    <a:pt x="979046" y="1218107"/>
                  </a:cubicBezTo>
                  <a:cubicBezTo>
                    <a:pt x="973241" y="1223912"/>
                    <a:pt x="965368" y="1227173"/>
                    <a:pt x="957158" y="1227173"/>
                  </a:cubicBezTo>
                  <a:lnTo>
                    <a:pt x="30953" y="1227173"/>
                  </a:lnTo>
                  <a:cubicBezTo>
                    <a:pt x="13858" y="1227173"/>
                    <a:pt x="0" y="1213315"/>
                    <a:pt x="0" y="1196220"/>
                  </a:cubicBezTo>
                  <a:lnTo>
                    <a:pt x="0" y="30953"/>
                  </a:lnTo>
                  <a:cubicBezTo>
                    <a:pt x="0" y="13858"/>
                    <a:pt x="13858" y="0"/>
                    <a:pt x="30953" y="0"/>
                  </a:cubicBezTo>
                  <a:close/>
                </a:path>
              </a:pathLst>
            </a:custGeom>
            <a:solidFill>
              <a:srgbClr val="AED581"/>
            </a:solidFill>
            <a:ln w="47625" cap="sq">
              <a:solidFill>
                <a:srgbClr val="DCEDC8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988112" cy="12652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183603" y="8116175"/>
            <a:ext cx="3176869" cy="317655"/>
            <a:chOff x="0" y="0"/>
            <a:chExt cx="836706" cy="8366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36706" cy="83662"/>
            </a:xfrm>
            <a:custGeom>
              <a:avLst/>
              <a:gdLst/>
              <a:ahLst/>
              <a:cxnLst/>
              <a:rect r="r" b="b" t="t" l="l"/>
              <a:pathLst>
                <a:path h="83662" w="836706">
                  <a:moveTo>
                    <a:pt x="36554" y="0"/>
                  </a:moveTo>
                  <a:lnTo>
                    <a:pt x="800152" y="0"/>
                  </a:lnTo>
                  <a:cubicBezTo>
                    <a:pt x="820340" y="0"/>
                    <a:pt x="836706" y="16366"/>
                    <a:pt x="836706" y="36554"/>
                  </a:cubicBezTo>
                  <a:lnTo>
                    <a:pt x="836706" y="47108"/>
                  </a:lnTo>
                  <a:cubicBezTo>
                    <a:pt x="836706" y="56803"/>
                    <a:pt x="832855" y="66100"/>
                    <a:pt x="826000" y="72956"/>
                  </a:cubicBezTo>
                  <a:cubicBezTo>
                    <a:pt x="819144" y="79811"/>
                    <a:pt x="809847" y="83662"/>
                    <a:pt x="800152" y="83662"/>
                  </a:cubicBezTo>
                  <a:lnTo>
                    <a:pt x="36554" y="83662"/>
                  </a:lnTo>
                  <a:cubicBezTo>
                    <a:pt x="26860" y="83662"/>
                    <a:pt x="17562" y="79811"/>
                    <a:pt x="10707" y="72956"/>
                  </a:cubicBezTo>
                  <a:cubicBezTo>
                    <a:pt x="3851" y="66100"/>
                    <a:pt x="0" y="56803"/>
                    <a:pt x="0" y="47108"/>
                  </a:cubicBezTo>
                  <a:lnTo>
                    <a:pt x="0" y="36554"/>
                  </a:lnTo>
                  <a:cubicBezTo>
                    <a:pt x="0" y="26860"/>
                    <a:pt x="3851" y="17562"/>
                    <a:pt x="10707" y="10707"/>
                  </a:cubicBezTo>
                  <a:cubicBezTo>
                    <a:pt x="17562" y="3851"/>
                    <a:pt x="26860" y="0"/>
                    <a:pt x="36554" y="0"/>
                  </a:cubicBezTo>
                  <a:close/>
                </a:path>
              </a:pathLst>
            </a:custGeom>
            <a:solidFill>
              <a:srgbClr val="DCEDC8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836706" cy="1217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4181568" y="4001943"/>
            <a:ext cx="563718" cy="573113"/>
          </a:xfrm>
          <a:custGeom>
            <a:avLst/>
            <a:gdLst/>
            <a:ahLst/>
            <a:cxnLst/>
            <a:rect r="r" b="b" t="t" l="l"/>
            <a:pathLst>
              <a:path h="573113" w="563718">
                <a:moveTo>
                  <a:pt x="0" y="0"/>
                </a:moveTo>
                <a:lnTo>
                  <a:pt x="563718" y="0"/>
                </a:lnTo>
                <a:lnTo>
                  <a:pt x="563718" y="573113"/>
                </a:lnTo>
                <a:lnTo>
                  <a:pt x="0" y="5731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8943922" y="4155756"/>
            <a:ext cx="460664" cy="461819"/>
          </a:xfrm>
          <a:custGeom>
            <a:avLst/>
            <a:gdLst/>
            <a:ahLst/>
            <a:cxnLst/>
            <a:rect r="r" b="b" t="t" l="l"/>
            <a:pathLst>
              <a:path h="461819" w="460664">
                <a:moveTo>
                  <a:pt x="0" y="0"/>
                </a:moveTo>
                <a:lnTo>
                  <a:pt x="460664" y="0"/>
                </a:lnTo>
                <a:lnTo>
                  <a:pt x="460664" y="461818"/>
                </a:lnTo>
                <a:lnTo>
                  <a:pt x="0" y="4618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3430506" y="4119039"/>
            <a:ext cx="682098" cy="562270"/>
          </a:xfrm>
          <a:custGeom>
            <a:avLst/>
            <a:gdLst/>
            <a:ahLst/>
            <a:cxnLst/>
            <a:rect r="r" b="b" t="t" l="l"/>
            <a:pathLst>
              <a:path h="562270" w="682098">
                <a:moveTo>
                  <a:pt x="0" y="0"/>
                </a:moveTo>
                <a:lnTo>
                  <a:pt x="682098" y="0"/>
                </a:lnTo>
                <a:lnTo>
                  <a:pt x="682098" y="562271"/>
                </a:lnTo>
                <a:lnTo>
                  <a:pt x="0" y="5622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5883590" y="1242407"/>
            <a:ext cx="6519544" cy="1455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75"/>
              </a:lnSpc>
            </a:pPr>
            <a:r>
              <a:rPr lang="en-US" b="true" sz="4197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Power BI Dashboard Overview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979668" y="4839377"/>
            <a:ext cx="2962913" cy="72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7"/>
              </a:lnSpc>
            </a:pPr>
            <a:r>
              <a:rPr lang="en-US" b="true" sz="2098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Key Metrics at a Glance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118723" y="5752601"/>
            <a:ext cx="2684802" cy="1812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52"/>
              </a:lnSpc>
            </a:pPr>
            <a:r>
              <a:rPr lang="en-US" sz="1751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3.9K customers analyzed, $59.76 average purchase value, and 3.75 average rating — all surfaced through an interactive Power BI dashboard.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662543" y="4839377"/>
            <a:ext cx="2962913" cy="72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7"/>
              </a:lnSpc>
            </a:pPr>
            <a:r>
              <a:rPr lang="en-US" b="true" sz="2098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Dynamic Filter Controls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801599" y="5752601"/>
            <a:ext cx="2684802" cy="1508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52"/>
              </a:lnSpc>
            </a:pPr>
            <a:r>
              <a:rPr lang="en-US" sz="1751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Slice data by subscription status, gender, product category, and shipping type for tailored business insights.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290580" y="4839377"/>
            <a:ext cx="2962913" cy="72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37"/>
              </a:lnSpc>
            </a:pPr>
            <a:r>
              <a:rPr lang="en-US" b="true" sz="2098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Stakeholder Exploration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429636" y="5752601"/>
            <a:ext cx="2684802" cy="1812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452"/>
              </a:lnSpc>
            </a:pPr>
            <a:r>
              <a:rPr lang="en-US" sz="1751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The dashboard empowers teams to explore trends dynamically, enabling data-driven decisions without relying on static reports.</a:t>
            </a:r>
          </a:p>
        </p:txBody>
      </p:sp>
      <p:sp>
        <p:nvSpPr>
          <p:cNvPr name="Freeform 30" id="30"/>
          <p:cNvSpPr/>
          <p:nvPr/>
        </p:nvSpPr>
        <p:spPr>
          <a:xfrm flipH="false" flipV="true" rot="0">
            <a:off x="16528583" y="-229501"/>
            <a:ext cx="2147582" cy="2128513"/>
          </a:xfrm>
          <a:custGeom>
            <a:avLst/>
            <a:gdLst/>
            <a:ahLst/>
            <a:cxnLst/>
            <a:rect r="r" b="b" t="t" l="l"/>
            <a:pathLst>
              <a:path h="2128513" w="2147582">
                <a:moveTo>
                  <a:pt x="0" y="2128513"/>
                </a:moveTo>
                <a:lnTo>
                  <a:pt x="2147582" y="2128513"/>
                </a:lnTo>
                <a:lnTo>
                  <a:pt x="2147582" y="0"/>
                </a:lnTo>
                <a:lnTo>
                  <a:pt x="0" y="0"/>
                </a:lnTo>
                <a:lnTo>
                  <a:pt x="0" y="2128513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-843960" y="8609717"/>
            <a:ext cx="2448613" cy="2159231"/>
          </a:xfrm>
          <a:custGeom>
            <a:avLst/>
            <a:gdLst/>
            <a:ahLst/>
            <a:cxnLst/>
            <a:rect r="r" b="b" t="t" l="l"/>
            <a:pathLst>
              <a:path h="2159231" w="2448613">
                <a:moveTo>
                  <a:pt x="0" y="0"/>
                </a:moveTo>
                <a:lnTo>
                  <a:pt x="2448612" y="0"/>
                </a:lnTo>
                <a:lnTo>
                  <a:pt x="2448612" y="2159231"/>
                </a:lnTo>
                <a:lnTo>
                  <a:pt x="0" y="215923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6528583" y="-229501"/>
            <a:ext cx="2147582" cy="2128513"/>
          </a:xfrm>
          <a:custGeom>
            <a:avLst/>
            <a:gdLst/>
            <a:ahLst/>
            <a:cxnLst/>
            <a:rect r="r" b="b" t="t" l="l"/>
            <a:pathLst>
              <a:path h="2128513" w="2147582">
                <a:moveTo>
                  <a:pt x="0" y="2128513"/>
                </a:moveTo>
                <a:lnTo>
                  <a:pt x="2147582" y="2128513"/>
                </a:lnTo>
                <a:lnTo>
                  <a:pt x="2147582" y="0"/>
                </a:lnTo>
                <a:lnTo>
                  <a:pt x="0" y="0"/>
                </a:lnTo>
                <a:lnTo>
                  <a:pt x="0" y="212851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43960" y="8609717"/>
            <a:ext cx="2448613" cy="2159231"/>
          </a:xfrm>
          <a:custGeom>
            <a:avLst/>
            <a:gdLst/>
            <a:ahLst/>
            <a:cxnLst/>
            <a:rect r="r" b="b" t="t" l="l"/>
            <a:pathLst>
              <a:path h="2159231" w="2448613">
                <a:moveTo>
                  <a:pt x="0" y="0"/>
                </a:moveTo>
                <a:lnTo>
                  <a:pt x="2448612" y="0"/>
                </a:lnTo>
                <a:lnTo>
                  <a:pt x="2448612" y="2159231"/>
                </a:lnTo>
                <a:lnTo>
                  <a:pt x="0" y="21592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836129" y="2343593"/>
            <a:ext cx="12615742" cy="6914707"/>
          </a:xfrm>
          <a:custGeom>
            <a:avLst/>
            <a:gdLst/>
            <a:ahLst/>
            <a:cxnLst/>
            <a:rect r="r" b="b" t="t" l="l"/>
            <a:pathLst>
              <a:path h="6914707" w="12615742">
                <a:moveTo>
                  <a:pt x="0" y="0"/>
                </a:moveTo>
                <a:lnTo>
                  <a:pt x="12615742" y="0"/>
                </a:lnTo>
                <a:lnTo>
                  <a:pt x="12615742" y="6914707"/>
                </a:lnTo>
                <a:lnTo>
                  <a:pt x="0" y="691470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385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883590" y="1242407"/>
            <a:ext cx="6519544" cy="712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75"/>
              </a:lnSpc>
            </a:pPr>
            <a:r>
              <a:rPr lang="en-US" b="true" sz="4197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Power BI Dashboard 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6397529" y="-908329"/>
            <a:ext cx="3230536" cy="2638920"/>
          </a:xfrm>
          <a:custGeom>
            <a:avLst/>
            <a:gdLst/>
            <a:ahLst/>
            <a:cxnLst/>
            <a:rect r="r" b="b" t="t" l="l"/>
            <a:pathLst>
              <a:path h="2638920" w="3230536">
                <a:moveTo>
                  <a:pt x="0" y="0"/>
                </a:moveTo>
                <a:lnTo>
                  <a:pt x="3230536" y="0"/>
                </a:lnTo>
                <a:lnTo>
                  <a:pt x="3230536" y="2638920"/>
                </a:lnTo>
                <a:lnTo>
                  <a:pt x="0" y="263892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891642" y="-363110"/>
            <a:ext cx="2317321" cy="2237269"/>
          </a:xfrm>
          <a:custGeom>
            <a:avLst/>
            <a:gdLst/>
            <a:ahLst/>
            <a:cxnLst/>
            <a:rect r="r" b="b" t="t" l="l"/>
            <a:pathLst>
              <a:path h="2237269" w="2317321">
                <a:moveTo>
                  <a:pt x="0" y="0"/>
                </a:moveTo>
                <a:lnTo>
                  <a:pt x="2317322" y="0"/>
                </a:lnTo>
                <a:lnTo>
                  <a:pt x="2317322" y="2237268"/>
                </a:lnTo>
                <a:lnTo>
                  <a:pt x="0" y="223726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02003" y="3696517"/>
            <a:ext cx="3899333" cy="4606239"/>
            <a:chOff x="0" y="0"/>
            <a:chExt cx="1170647" cy="13828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647" cy="1382872"/>
            </a:xfrm>
            <a:custGeom>
              <a:avLst/>
              <a:gdLst/>
              <a:ahLst/>
              <a:cxnLst/>
              <a:rect r="r" b="b" t="t" l="l"/>
              <a:pathLst>
                <a:path h="1382872" w="1170647">
                  <a:moveTo>
                    <a:pt x="0" y="0"/>
                  </a:moveTo>
                  <a:lnTo>
                    <a:pt x="1170647" y="0"/>
                  </a:lnTo>
                  <a:lnTo>
                    <a:pt x="1170647" y="1382872"/>
                  </a:lnTo>
                  <a:lnTo>
                    <a:pt x="0" y="1382872"/>
                  </a:lnTo>
                  <a:close/>
                </a:path>
              </a:pathLst>
            </a:custGeom>
            <a:solidFill>
              <a:srgbClr val="689F3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170647" cy="1420972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59128" y="7410215"/>
            <a:ext cx="1785082" cy="1785082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AED58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27000" y="88900"/>
              <a:ext cx="558800" cy="596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194334" y="3696517"/>
            <a:ext cx="3899333" cy="4606239"/>
            <a:chOff x="0" y="0"/>
            <a:chExt cx="1170647" cy="13828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70647" cy="1382872"/>
            </a:xfrm>
            <a:custGeom>
              <a:avLst/>
              <a:gdLst/>
              <a:ahLst/>
              <a:cxnLst/>
              <a:rect r="r" b="b" t="t" l="l"/>
              <a:pathLst>
                <a:path h="1382872" w="1170647">
                  <a:moveTo>
                    <a:pt x="0" y="0"/>
                  </a:moveTo>
                  <a:lnTo>
                    <a:pt x="1170647" y="0"/>
                  </a:lnTo>
                  <a:lnTo>
                    <a:pt x="1170647" y="1382872"/>
                  </a:lnTo>
                  <a:lnTo>
                    <a:pt x="0" y="1382872"/>
                  </a:lnTo>
                  <a:close/>
                </a:path>
              </a:pathLst>
            </a:custGeom>
            <a:solidFill>
              <a:srgbClr val="AED581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170647" cy="1420972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251459" y="7410215"/>
            <a:ext cx="1785082" cy="1785082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DCEDC8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27000" y="88900"/>
              <a:ext cx="558800" cy="596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388941" y="3696517"/>
            <a:ext cx="3899333" cy="4606239"/>
            <a:chOff x="0" y="0"/>
            <a:chExt cx="1170647" cy="138287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70647" cy="1382872"/>
            </a:xfrm>
            <a:custGeom>
              <a:avLst/>
              <a:gdLst/>
              <a:ahLst/>
              <a:cxnLst/>
              <a:rect r="r" b="b" t="t" l="l"/>
              <a:pathLst>
                <a:path h="1382872" w="1170647">
                  <a:moveTo>
                    <a:pt x="0" y="0"/>
                  </a:moveTo>
                  <a:lnTo>
                    <a:pt x="1170647" y="0"/>
                  </a:lnTo>
                  <a:lnTo>
                    <a:pt x="1170647" y="1382872"/>
                  </a:lnTo>
                  <a:lnTo>
                    <a:pt x="0" y="1382872"/>
                  </a:lnTo>
                  <a:close/>
                </a:path>
              </a:pathLst>
            </a:custGeom>
            <a:solidFill>
              <a:srgbClr val="DCEDC8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170647" cy="1420972"/>
            </a:xfrm>
            <a:prstGeom prst="rect">
              <a:avLst/>
            </a:prstGeom>
          </p:spPr>
          <p:txBody>
            <a:bodyPr anchor="ctr" rtlCol="false" tIns="44566" lIns="44566" bIns="44566" rIns="44566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446067" y="7410215"/>
            <a:ext cx="1785082" cy="1785082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485289" y="111986"/>
                  </a:lnTo>
                  <a:lnTo>
                    <a:pt x="609600" y="54447"/>
                  </a:lnTo>
                  <a:lnTo>
                    <a:pt x="621927" y="190873"/>
                  </a:lnTo>
                  <a:lnTo>
                    <a:pt x="758353" y="203200"/>
                  </a:lnTo>
                  <a:lnTo>
                    <a:pt x="700814" y="327511"/>
                  </a:lnTo>
                  <a:lnTo>
                    <a:pt x="812800" y="406400"/>
                  </a:lnTo>
                  <a:lnTo>
                    <a:pt x="700814" y="485289"/>
                  </a:lnTo>
                  <a:lnTo>
                    <a:pt x="758353" y="609600"/>
                  </a:lnTo>
                  <a:lnTo>
                    <a:pt x="621927" y="621927"/>
                  </a:lnTo>
                  <a:lnTo>
                    <a:pt x="609600" y="758353"/>
                  </a:lnTo>
                  <a:lnTo>
                    <a:pt x="485289" y="700814"/>
                  </a:lnTo>
                  <a:lnTo>
                    <a:pt x="406400" y="812800"/>
                  </a:lnTo>
                  <a:lnTo>
                    <a:pt x="327511" y="700814"/>
                  </a:lnTo>
                  <a:lnTo>
                    <a:pt x="203200" y="758353"/>
                  </a:lnTo>
                  <a:lnTo>
                    <a:pt x="190873" y="621927"/>
                  </a:lnTo>
                  <a:lnTo>
                    <a:pt x="54447" y="609600"/>
                  </a:lnTo>
                  <a:lnTo>
                    <a:pt x="111986" y="485289"/>
                  </a:lnTo>
                  <a:lnTo>
                    <a:pt x="0" y="406400"/>
                  </a:lnTo>
                  <a:lnTo>
                    <a:pt x="111986" y="327511"/>
                  </a:lnTo>
                  <a:lnTo>
                    <a:pt x="54447" y="203200"/>
                  </a:lnTo>
                  <a:lnTo>
                    <a:pt x="190873" y="190873"/>
                  </a:lnTo>
                  <a:lnTo>
                    <a:pt x="203200" y="54447"/>
                  </a:lnTo>
                  <a:lnTo>
                    <a:pt x="327511" y="111986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AED581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27000" y="88900"/>
              <a:ext cx="558800" cy="596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4631483" y="8059725"/>
            <a:ext cx="637825" cy="629935"/>
          </a:xfrm>
          <a:custGeom>
            <a:avLst/>
            <a:gdLst/>
            <a:ahLst/>
            <a:cxnLst/>
            <a:rect r="r" b="b" t="t" l="l"/>
            <a:pathLst>
              <a:path h="629935" w="637825">
                <a:moveTo>
                  <a:pt x="0" y="0"/>
                </a:moveTo>
                <a:lnTo>
                  <a:pt x="637825" y="0"/>
                </a:lnTo>
                <a:lnTo>
                  <a:pt x="637825" y="629935"/>
                </a:lnTo>
                <a:lnTo>
                  <a:pt x="0" y="6299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8829966" y="7907850"/>
            <a:ext cx="696756" cy="620337"/>
          </a:xfrm>
          <a:custGeom>
            <a:avLst/>
            <a:gdLst/>
            <a:ahLst/>
            <a:cxnLst/>
            <a:rect r="r" b="b" t="t" l="l"/>
            <a:pathLst>
              <a:path h="620337" w="696756">
                <a:moveTo>
                  <a:pt x="0" y="0"/>
                </a:moveTo>
                <a:lnTo>
                  <a:pt x="696756" y="0"/>
                </a:lnTo>
                <a:lnTo>
                  <a:pt x="696756" y="620337"/>
                </a:lnTo>
                <a:lnTo>
                  <a:pt x="0" y="6203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6397529" y="-908329"/>
            <a:ext cx="3230536" cy="2638920"/>
          </a:xfrm>
          <a:custGeom>
            <a:avLst/>
            <a:gdLst/>
            <a:ahLst/>
            <a:cxnLst/>
            <a:rect r="r" b="b" t="t" l="l"/>
            <a:pathLst>
              <a:path h="2638920" w="3230536">
                <a:moveTo>
                  <a:pt x="0" y="0"/>
                </a:moveTo>
                <a:lnTo>
                  <a:pt x="3230536" y="0"/>
                </a:lnTo>
                <a:lnTo>
                  <a:pt x="3230536" y="2638920"/>
                </a:lnTo>
                <a:lnTo>
                  <a:pt x="0" y="26389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-543230" y="8486837"/>
            <a:ext cx="2283441" cy="2620955"/>
          </a:xfrm>
          <a:custGeom>
            <a:avLst/>
            <a:gdLst/>
            <a:ahLst/>
            <a:cxnLst/>
            <a:rect r="r" b="b" t="t" l="l"/>
            <a:pathLst>
              <a:path h="2620955" w="2283441">
                <a:moveTo>
                  <a:pt x="0" y="0"/>
                </a:moveTo>
                <a:lnTo>
                  <a:pt x="2283442" y="0"/>
                </a:lnTo>
                <a:lnTo>
                  <a:pt x="2283442" y="2620955"/>
                </a:lnTo>
                <a:lnTo>
                  <a:pt x="0" y="262095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2995857" y="7975246"/>
            <a:ext cx="595786" cy="623626"/>
          </a:xfrm>
          <a:custGeom>
            <a:avLst/>
            <a:gdLst/>
            <a:ahLst/>
            <a:cxnLst/>
            <a:rect r="r" b="b" t="t" l="l"/>
            <a:pathLst>
              <a:path h="623626" w="595786">
                <a:moveTo>
                  <a:pt x="0" y="0"/>
                </a:moveTo>
                <a:lnTo>
                  <a:pt x="595786" y="0"/>
                </a:lnTo>
                <a:lnTo>
                  <a:pt x="595786" y="623627"/>
                </a:lnTo>
                <a:lnTo>
                  <a:pt x="0" y="62362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5883590" y="1242407"/>
            <a:ext cx="6519544" cy="1455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75"/>
              </a:lnSpc>
            </a:pPr>
            <a:r>
              <a:rPr lang="en-US" b="true" sz="4197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Power BI Key Visualizations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3719065" y="4228087"/>
            <a:ext cx="2465209" cy="691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14"/>
              </a:lnSpc>
            </a:pPr>
            <a:r>
              <a:rPr lang="en-US" b="true" sz="2010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Subscription Status Breakdown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609268" y="5114925"/>
            <a:ext cx="2684802" cy="1589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62"/>
              </a:lnSpc>
            </a:pPr>
            <a:r>
              <a:rPr lang="en-US" sz="1544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27% of customers are subscribers (Yes), while 73% are non-subscribers (No), highlighting a major opportunity to grow the subscriber base.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910758" y="4228087"/>
            <a:ext cx="2465209" cy="691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14"/>
              </a:lnSpc>
            </a:pPr>
            <a:r>
              <a:rPr lang="en-US" b="true" sz="2010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Revenue by Category &amp; Sales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800961" y="5114925"/>
            <a:ext cx="2684802" cy="1322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62"/>
              </a:lnSpc>
            </a:pPr>
            <a:r>
              <a:rPr lang="en-US" sz="1544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Category-level charts reveal top-performing product lines by total revenue and sales volume, guiding inventory and marketing focus.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108338" y="4228087"/>
            <a:ext cx="2465209" cy="691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14"/>
              </a:lnSpc>
            </a:pPr>
            <a:r>
              <a:rPr lang="en-US" b="true" sz="2010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Revenue &amp; Sales by Age Group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998541" y="5114925"/>
            <a:ext cx="2684802" cy="1322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62"/>
              </a:lnSpc>
            </a:pPr>
            <a:r>
              <a:rPr lang="en-US" sz="1544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Young Adults lead with $62,143 in revenue. Age-group breakdowns help target high-value segments with tailored campaigns.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617711" y="3509687"/>
            <a:ext cx="5051303" cy="5405090"/>
          </a:xfrm>
          <a:custGeom>
            <a:avLst/>
            <a:gdLst/>
            <a:ahLst/>
            <a:cxnLst/>
            <a:rect r="r" b="b" t="t" l="l"/>
            <a:pathLst>
              <a:path h="5405090" w="5051303">
                <a:moveTo>
                  <a:pt x="0" y="0"/>
                </a:moveTo>
                <a:lnTo>
                  <a:pt x="5051303" y="0"/>
                </a:lnTo>
                <a:lnTo>
                  <a:pt x="5051303" y="5405090"/>
                </a:lnTo>
                <a:lnTo>
                  <a:pt x="0" y="54050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158359" y="5003385"/>
            <a:ext cx="826905" cy="1065081"/>
          </a:xfrm>
          <a:custGeom>
            <a:avLst/>
            <a:gdLst/>
            <a:ahLst/>
            <a:cxnLst/>
            <a:rect r="r" b="b" t="t" l="l"/>
            <a:pathLst>
              <a:path h="1065081" w="826905">
                <a:moveTo>
                  <a:pt x="0" y="0"/>
                </a:moveTo>
                <a:lnTo>
                  <a:pt x="826905" y="0"/>
                </a:lnTo>
                <a:lnTo>
                  <a:pt x="826905" y="1065081"/>
                </a:lnTo>
                <a:lnTo>
                  <a:pt x="0" y="10650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127042" y="7822956"/>
            <a:ext cx="888796" cy="871020"/>
          </a:xfrm>
          <a:custGeom>
            <a:avLst/>
            <a:gdLst/>
            <a:ahLst/>
            <a:cxnLst/>
            <a:rect r="r" b="b" t="t" l="l"/>
            <a:pathLst>
              <a:path h="871020" w="888796">
                <a:moveTo>
                  <a:pt x="0" y="0"/>
                </a:moveTo>
                <a:lnTo>
                  <a:pt x="888797" y="0"/>
                </a:lnTo>
                <a:lnTo>
                  <a:pt x="888797" y="871020"/>
                </a:lnTo>
                <a:lnTo>
                  <a:pt x="0" y="8710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084190" y="3879267"/>
            <a:ext cx="1330847" cy="869861"/>
          </a:xfrm>
          <a:custGeom>
            <a:avLst/>
            <a:gdLst/>
            <a:ahLst/>
            <a:cxnLst/>
            <a:rect r="r" b="b" t="t" l="l"/>
            <a:pathLst>
              <a:path h="869861" w="1330847">
                <a:moveTo>
                  <a:pt x="0" y="0"/>
                </a:moveTo>
                <a:lnTo>
                  <a:pt x="1330847" y="0"/>
                </a:lnTo>
                <a:lnTo>
                  <a:pt x="1330847" y="869861"/>
                </a:lnTo>
                <a:lnTo>
                  <a:pt x="0" y="86986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379982" y="6257353"/>
            <a:ext cx="665504" cy="1087666"/>
          </a:xfrm>
          <a:custGeom>
            <a:avLst/>
            <a:gdLst/>
            <a:ahLst/>
            <a:cxnLst/>
            <a:rect r="r" b="b" t="t" l="l"/>
            <a:pathLst>
              <a:path h="1087666" w="665504">
                <a:moveTo>
                  <a:pt x="0" y="0"/>
                </a:moveTo>
                <a:lnTo>
                  <a:pt x="665504" y="0"/>
                </a:lnTo>
                <a:lnTo>
                  <a:pt x="665504" y="1087665"/>
                </a:lnTo>
                <a:lnTo>
                  <a:pt x="0" y="108766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843960" y="-603305"/>
            <a:ext cx="2448613" cy="2159231"/>
          </a:xfrm>
          <a:custGeom>
            <a:avLst/>
            <a:gdLst/>
            <a:ahLst/>
            <a:cxnLst/>
            <a:rect r="r" b="b" t="t" l="l"/>
            <a:pathLst>
              <a:path h="2159231" w="2448613">
                <a:moveTo>
                  <a:pt x="0" y="0"/>
                </a:moveTo>
                <a:lnTo>
                  <a:pt x="2448612" y="0"/>
                </a:lnTo>
                <a:lnTo>
                  <a:pt x="2448612" y="2159231"/>
                </a:lnTo>
                <a:lnTo>
                  <a:pt x="0" y="215923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322676" y="8441453"/>
            <a:ext cx="4310743" cy="4114800"/>
          </a:xfrm>
          <a:custGeom>
            <a:avLst/>
            <a:gdLst/>
            <a:ahLst/>
            <a:cxnLst/>
            <a:rect r="r" b="b" t="t" l="l"/>
            <a:pathLst>
              <a:path h="4114800" w="4310743">
                <a:moveTo>
                  <a:pt x="0" y="0"/>
                </a:moveTo>
                <a:lnTo>
                  <a:pt x="4310742" y="0"/>
                </a:lnTo>
                <a:lnTo>
                  <a:pt x="431074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883590" y="1242407"/>
            <a:ext cx="6519544" cy="1455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80"/>
              </a:lnSpc>
            </a:pPr>
            <a:r>
              <a:rPr lang="en-US" b="true" sz="4200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Business Recommendations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235872" y="4787265"/>
            <a:ext cx="406879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940"/>
              </a:lnSpc>
            </a:pPr>
            <a:r>
              <a:rPr lang="en-US" b="true" sz="2100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Boost Subscriptions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64998" y="5276877"/>
            <a:ext cx="4439664" cy="1249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520"/>
              </a:lnSpc>
            </a:pPr>
            <a:r>
              <a:rPr lang="en-US" sz="1800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Promote exclusive membership benefits, early access offers, and retention incentives to convert non-subscribers and grow recurring revenue.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235872" y="7360163"/>
            <a:ext cx="406879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940"/>
              </a:lnSpc>
            </a:pPr>
            <a:r>
              <a:rPr lang="en-US" b="true" sz="2100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Customer Loyalty Programs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864998" y="7849776"/>
            <a:ext cx="4439664" cy="1249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520"/>
              </a:lnSpc>
            </a:pPr>
            <a:r>
              <a:rPr lang="en-US" sz="1800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Incentivize repeat buyers with tiered rewards to expand the Loyal segment (currently 3,116) and increase lifetime customer value.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983339" y="3559465"/>
            <a:ext cx="406879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</a:pPr>
            <a:r>
              <a:rPr lang="en-US" b="true" sz="2100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Review Discount Policy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983339" y="4049077"/>
            <a:ext cx="4439664" cy="1249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</a:pPr>
            <a:r>
              <a:rPr lang="en-US" sz="1800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Optimize discount strategies for high-dependency products like Hat and Sneakers to balance sales volume with healthy profit margins.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983339" y="6132364"/>
            <a:ext cx="406879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</a:pPr>
            <a:r>
              <a:rPr lang="en-US" b="true" sz="2100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Targeted Marketing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983339" y="6621976"/>
            <a:ext cx="4439664" cy="1249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</a:pPr>
            <a:r>
              <a:rPr lang="en-US" sz="1800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Focus campaigns on high-revenue age groups (Young Adults, Middle-aged) and express-shipping customers to maximize return on marketing spend.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8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856448" y="5343922"/>
            <a:ext cx="2999498" cy="2398708"/>
          </a:xfrm>
          <a:custGeom>
            <a:avLst/>
            <a:gdLst/>
            <a:ahLst/>
            <a:cxnLst/>
            <a:rect r="r" b="b" t="t" l="l"/>
            <a:pathLst>
              <a:path h="2398708" w="2999498">
                <a:moveTo>
                  <a:pt x="0" y="0"/>
                </a:moveTo>
                <a:lnTo>
                  <a:pt x="2999498" y="0"/>
                </a:lnTo>
                <a:lnTo>
                  <a:pt x="2999498" y="2398709"/>
                </a:lnTo>
                <a:lnTo>
                  <a:pt x="0" y="23987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066225" y="3544795"/>
            <a:ext cx="2999498" cy="2398708"/>
          </a:xfrm>
          <a:custGeom>
            <a:avLst/>
            <a:gdLst/>
            <a:ahLst/>
            <a:cxnLst/>
            <a:rect r="r" b="b" t="t" l="l"/>
            <a:pathLst>
              <a:path h="2398708" w="2999498">
                <a:moveTo>
                  <a:pt x="0" y="0"/>
                </a:moveTo>
                <a:lnTo>
                  <a:pt x="2999499" y="0"/>
                </a:lnTo>
                <a:lnTo>
                  <a:pt x="2999499" y="2398709"/>
                </a:lnTo>
                <a:lnTo>
                  <a:pt x="0" y="23987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8675674" y="7139235"/>
            <a:ext cx="2436744" cy="2436744"/>
          </a:xfrm>
          <a:custGeom>
            <a:avLst/>
            <a:gdLst/>
            <a:ahLst/>
            <a:cxnLst/>
            <a:rect r="r" b="b" t="t" l="l"/>
            <a:pathLst>
              <a:path h="2436744" w="2436744">
                <a:moveTo>
                  <a:pt x="2436744" y="0"/>
                </a:moveTo>
                <a:lnTo>
                  <a:pt x="0" y="0"/>
                </a:lnTo>
                <a:lnTo>
                  <a:pt x="0" y="2436744"/>
                </a:lnTo>
                <a:lnTo>
                  <a:pt x="2436744" y="2436744"/>
                </a:lnTo>
                <a:lnTo>
                  <a:pt x="243674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287332" y="1744550"/>
            <a:ext cx="2999498" cy="2398708"/>
          </a:xfrm>
          <a:custGeom>
            <a:avLst/>
            <a:gdLst/>
            <a:ahLst/>
            <a:cxnLst/>
            <a:rect r="r" b="b" t="t" l="l"/>
            <a:pathLst>
              <a:path h="2398708" w="2999498">
                <a:moveTo>
                  <a:pt x="0" y="0"/>
                </a:moveTo>
                <a:lnTo>
                  <a:pt x="2999498" y="0"/>
                </a:lnTo>
                <a:lnTo>
                  <a:pt x="2999498" y="2398708"/>
                </a:lnTo>
                <a:lnTo>
                  <a:pt x="0" y="23987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400000">
            <a:off x="1133638" y="155031"/>
            <a:ext cx="592749" cy="3790837"/>
          </a:xfrm>
          <a:custGeom>
            <a:avLst/>
            <a:gdLst/>
            <a:ahLst/>
            <a:cxnLst/>
            <a:rect r="r" b="b" t="t" l="l"/>
            <a:pathLst>
              <a:path h="3790837" w="592749">
                <a:moveTo>
                  <a:pt x="0" y="0"/>
                </a:moveTo>
                <a:lnTo>
                  <a:pt x="592750" y="0"/>
                </a:lnTo>
                <a:lnTo>
                  <a:pt x="592750" y="3790837"/>
                </a:lnTo>
                <a:lnTo>
                  <a:pt x="0" y="37908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800000">
            <a:off x="10510144" y="9547404"/>
            <a:ext cx="592749" cy="3790837"/>
          </a:xfrm>
          <a:custGeom>
            <a:avLst/>
            <a:gdLst/>
            <a:ahLst/>
            <a:cxnLst/>
            <a:rect r="r" b="b" t="t" l="l"/>
            <a:pathLst>
              <a:path h="3790837" w="592749">
                <a:moveTo>
                  <a:pt x="0" y="0"/>
                </a:moveTo>
                <a:lnTo>
                  <a:pt x="592749" y="0"/>
                </a:lnTo>
                <a:lnTo>
                  <a:pt x="592749" y="3790837"/>
                </a:lnTo>
                <a:lnTo>
                  <a:pt x="0" y="37908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5392245" y="2050449"/>
            <a:ext cx="1316128" cy="1316128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89F3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148225" y="3827372"/>
            <a:ext cx="1316128" cy="1316128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ED581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949590" y="5613608"/>
            <a:ext cx="1316128" cy="1316128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CEDC8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5864565" y="2484929"/>
            <a:ext cx="371490" cy="447170"/>
          </a:xfrm>
          <a:custGeom>
            <a:avLst/>
            <a:gdLst/>
            <a:ahLst/>
            <a:cxnLst/>
            <a:rect r="r" b="b" t="t" l="l"/>
            <a:pathLst>
              <a:path h="447170" w="371490">
                <a:moveTo>
                  <a:pt x="0" y="0"/>
                </a:moveTo>
                <a:lnTo>
                  <a:pt x="371489" y="0"/>
                </a:lnTo>
                <a:lnTo>
                  <a:pt x="371489" y="447169"/>
                </a:lnTo>
                <a:lnTo>
                  <a:pt x="0" y="44716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7568590" y="4255948"/>
            <a:ext cx="475398" cy="458976"/>
          </a:xfrm>
          <a:custGeom>
            <a:avLst/>
            <a:gdLst/>
            <a:ahLst/>
            <a:cxnLst/>
            <a:rect r="r" b="b" t="t" l="l"/>
            <a:pathLst>
              <a:path h="458976" w="475398">
                <a:moveTo>
                  <a:pt x="0" y="0"/>
                </a:moveTo>
                <a:lnTo>
                  <a:pt x="475399" y="0"/>
                </a:lnTo>
                <a:lnTo>
                  <a:pt x="475399" y="458976"/>
                </a:lnTo>
                <a:lnTo>
                  <a:pt x="0" y="45897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9367042" y="6033247"/>
            <a:ext cx="481225" cy="476850"/>
          </a:xfrm>
          <a:custGeom>
            <a:avLst/>
            <a:gdLst/>
            <a:ahLst/>
            <a:cxnLst/>
            <a:rect r="r" b="b" t="t" l="l"/>
            <a:pathLst>
              <a:path h="476850" w="481225">
                <a:moveTo>
                  <a:pt x="0" y="0"/>
                </a:moveTo>
                <a:lnTo>
                  <a:pt x="481224" y="0"/>
                </a:lnTo>
                <a:lnTo>
                  <a:pt x="481224" y="476850"/>
                </a:lnTo>
                <a:lnTo>
                  <a:pt x="0" y="47685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836653" y="6287211"/>
            <a:ext cx="6519544" cy="1455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75"/>
              </a:lnSpc>
            </a:pPr>
            <a:r>
              <a:rPr lang="en-US" b="true" sz="4197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Thank You &amp;</a:t>
            </a:r>
          </a:p>
          <a:p>
            <a:pPr algn="l" marL="0" indent="0" lvl="0">
              <a:lnSpc>
                <a:spcPts val="5875"/>
              </a:lnSpc>
            </a:pPr>
            <a:r>
              <a:rPr lang="en-US" b="true" sz="4197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Questions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148225" y="2012349"/>
            <a:ext cx="4068790" cy="356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37"/>
              </a:lnSpc>
            </a:pPr>
            <a:r>
              <a:rPr lang="en-US" b="true" sz="2098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Thank You for Your Attention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148225" y="2511487"/>
            <a:ext cx="7087084" cy="541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88"/>
              </a:lnSpc>
            </a:pPr>
            <a:r>
              <a:rPr lang="en-US" sz="1563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We appreciate your time exploring this Customer Shopping Behavior Analysis project covering Python EDA, SQL queries, and Power BI dashboards.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949590" y="3911065"/>
            <a:ext cx="4477249" cy="356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37"/>
              </a:lnSpc>
            </a:pPr>
            <a:r>
              <a:rPr lang="en-US" b="true" sz="2098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Questions &amp; Discussion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949590" y="4410202"/>
            <a:ext cx="7087084" cy="541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88"/>
              </a:lnSpc>
            </a:pPr>
            <a:r>
              <a:rPr lang="en-US" sz="1563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We welcome your questions, feedback, and insights. Let's discuss findings, methodology, or potential next steps together.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691767" y="5697301"/>
            <a:ext cx="4568017" cy="356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37"/>
              </a:lnSpc>
            </a:pPr>
            <a:r>
              <a:rPr lang="en-US" b="true" sz="2098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Get in Touch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691767" y="6196438"/>
            <a:ext cx="6567533" cy="541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88"/>
              </a:lnSpc>
            </a:pPr>
            <a:r>
              <a:rPr lang="en-US" sz="1563">
                <a:solidFill>
                  <a:srgbClr val="1B1B1B"/>
                </a:solidFill>
                <a:latin typeface="DM Sans"/>
                <a:ea typeface="DM Sans"/>
                <a:cs typeface="DM Sans"/>
                <a:sym typeface="DM Sans"/>
              </a:rPr>
              <a:t>Feel free to reach out for further details on the analysis, dataset, or dashboard. Open to collaboration and continued data exploration.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-948577" y="8132336"/>
            <a:ext cx="2750430" cy="2975806"/>
          </a:xfrm>
          <a:custGeom>
            <a:avLst/>
            <a:gdLst/>
            <a:ahLst/>
            <a:cxnLst/>
            <a:rect r="r" b="b" t="t" l="l"/>
            <a:pathLst>
              <a:path h="2975806" w="2750430">
                <a:moveTo>
                  <a:pt x="0" y="0"/>
                </a:moveTo>
                <a:lnTo>
                  <a:pt x="2750430" y="0"/>
                </a:lnTo>
                <a:lnTo>
                  <a:pt x="2750430" y="2975805"/>
                </a:lnTo>
                <a:lnTo>
                  <a:pt x="0" y="297580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6891642" y="-363110"/>
            <a:ext cx="2317321" cy="2237269"/>
          </a:xfrm>
          <a:custGeom>
            <a:avLst/>
            <a:gdLst/>
            <a:ahLst/>
            <a:cxnLst/>
            <a:rect r="r" b="b" t="t" l="l"/>
            <a:pathLst>
              <a:path h="2237269" w="2317321">
                <a:moveTo>
                  <a:pt x="0" y="0"/>
                </a:moveTo>
                <a:lnTo>
                  <a:pt x="2317322" y="0"/>
                </a:lnTo>
                <a:lnTo>
                  <a:pt x="2317322" y="2237268"/>
                </a:lnTo>
                <a:lnTo>
                  <a:pt x="0" y="223726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DAHObH3p8ug</dc:identifier>
  <dcterms:modified xsi:type="dcterms:W3CDTF">2011-08-01T06:04:30Z</dcterms:modified>
  <cp:revision>1</cp:revision>
  <dc:title>Customer Shopping Behavior Analysis Overview</dc:title>
</cp:coreProperties>
</file>